
<file path=[Content_Types].xml><?xml version="1.0" encoding="utf-8"?>
<Types xmlns="http://schemas.openxmlformats.org/package/2006/content-types"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1"/>
  </p:notesMasterIdLst>
  <p:sldIdLst>
    <p:sldId id="256" r:id="rId2"/>
    <p:sldId id="264" r:id="rId3"/>
    <p:sldId id="257" r:id="rId4"/>
    <p:sldId id="258" r:id="rId5"/>
    <p:sldId id="259" r:id="rId6"/>
    <p:sldId id="260" r:id="rId7"/>
    <p:sldId id="261" r:id="rId8"/>
    <p:sldId id="262" r:id="rId9"/>
    <p:sldId id="263" r:id="rId10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8771E"/>
    <a:srgbClr val="1B9E75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vertBarState="minimized" horzBarState="maximized">
    <p:restoredLeft sz="7814"/>
    <p:restoredTop sz="94610"/>
  </p:normalViewPr>
  <p:slideViewPr>
    <p:cSldViewPr snapToGrid="0" snapToObjects="1">
      <p:cViewPr varScale="1">
        <p:scale>
          <a:sx n="107" d="100"/>
          <a:sy n="107" d="100"/>
        </p:scale>
        <p:origin x="192" y="2344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tableStyles" Target="tableStyle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141109299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beyond-sw-camp/be23-fin-2team-PeopleCore-be" TargetMode="External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hyperlink" Target="https://github.com/beyond-sw-camp/be23-2nd-team2-Pocha_On-be" TargetMode="External"/><Relationship Id="rId5" Type="http://schemas.openxmlformats.org/officeDocument/2006/relationships/image" Target="../media/image7.png"/><Relationship Id="rId4" Type="http://schemas.openxmlformats.org/officeDocument/2006/relationships/image" Target="../media/image6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68680" y="1051560"/>
            <a:ext cx="196596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" name="Text 1"/>
          <p:cNvSpPr/>
          <p:nvPr/>
        </p:nvSpPr>
        <p:spPr>
          <a:xfrm>
            <a:off x="868680" y="1051560"/>
            <a:ext cx="196596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Backend Engineer</a:t>
            </a:r>
            <a:endParaRPr lang="en-US" sz="1250" dirty="0"/>
          </a:p>
        </p:txBody>
      </p:sp>
      <p:sp>
        <p:nvSpPr>
          <p:cNvPr id="4" name="Text 2"/>
          <p:cNvSpPr/>
          <p:nvPr/>
        </p:nvSpPr>
        <p:spPr>
          <a:xfrm>
            <a:off x="822960" y="1554480"/>
            <a:ext cx="7772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0" b="1" kern="0" spc="100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PROBLEM</a:t>
            </a:r>
            <a:endParaRPr lang="en-US" sz="7800" dirty="0"/>
          </a:p>
        </p:txBody>
      </p:sp>
      <p:sp>
        <p:nvSpPr>
          <p:cNvPr id="5" name="Text 3"/>
          <p:cNvSpPr/>
          <p:nvPr/>
        </p:nvSpPr>
        <p:spPr>
          <a:xfrm>
            <a:off x="822960" y="2697480"/>
            <a:ext cx="77724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0" b="1" i="1" kern="0" spc="1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DRIVEN</a:t>
            </a:r>
            <a:endParaRPr lang="en-US" sz="7800" dirty="0"/>
          </a:p>
        </p:txBody>
      </p:sp>
      <p:sp>
        <p:nvSpPr>
          <p:cNvPr id="6" name="Text 4"/>
          <p:cNvSpPr/>
          <p:nvPr/>
        </p:nvSpPr>
        <p:spPr>
          <a:xfrm>
            <a:off x="822960" y="3840480"/>
            <a:ext cx="8686800" cy="1143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7800" b="1" kern="0" spc="100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BACKEND.</a:t>
            </a:r>
            <a:endParaRPr lang="en-US" sz="7800" dirty="0"/>
          </a:p>
        </p:txBody>
      </p:sp>
      <p:sp>
        <p:nvSpPr>
          <p:cNvPr id="7" name="Text 5"/>
          <p:cNvSpPr/>
          <p:nvPr/>
        </p:nvSpPr>
        <p:spPr>
          <a:xfrm>
            <a:off x="868680" y="5212080"/>
            <a:ext cx="8229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하나의 문제 앞에서 여러 대안을 비교하고, 근거 위에서 판단하는 </a:t>
            </a:r>
            <a:r>
              <a:rPr lang="en-US" sz="15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백엔드 개발자 황주완</a:t>
            </a:r>
            <a:r>
              <a:rPr lang="en-US" sz="15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입니다.</a:t>
            </a:r>
            <a:endParaRPr lang="en-US" sz="1500" dirty="0"/>
          </a:p>
        </p:txBody>
      </p:sp>
      <p:sp>
        <p:nvSpPr>
          <p:cNvPr id="8" name="Text 6"/>
          <p:cNvSpPr/>
          <p:nvPr/>
        </p:nvSpPr>
        <p:spPr>
          <a:xfrm>
            <a:off x="868680" y="598932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9A9A9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blog : </a:t>
            </a:r>
            <a:r>
              <a:rPr lang="en-US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juwan7056@naver.com</a:t>
            </a:r>
            <a:r>
              <a:rPr lang="en-US" sz="1200" dirty="0">
                <a:solidFill>
                  <a:srgbClr val="9A9A9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   ·    github : </a:t>
            </a:r>
            <a:r>
              <a:rPr lang="en-US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github.com/HwangJwan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9875520" y="1371600"/>
            <a:ext cx="1234440" cy="1234440"/>
          </a:xfrm>
          <a:prstGeom prst="rect">
            <a:avLst/>
          </a:prstGeom>
          <a:solidFill>
            <a:srgbClr val="111111"/>
          </a:solidFill>
          <a:ln/>
        </p:spPr>
        <p:txBody>
          <a:bodyPr/>
          <a:lstStyle/>
          <a:p>
            <a:endParaRPr lang="ko-Kore-KR" altLang="en-US"/>
          </a:p>
        </p:txBody>
      </p:sp>
      <p:sp>
        <p:nvSpPr>
          <p:cNvPr id="10" name="Shape 8"/>
          <p:cNvSpPr/>
          <p:nvPr/>
        </p:nvSpPr>
        <p:spPr>
          <a:xfrm>
            <a:off x="10378440" y="2468880"/>
            <a:ext cx="1234440" cy="123444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ko-Kore-KR" altLang="en-US"/>
          </a:p>
        </p:txBody>
      </p:sp>
      <p:sp>
        <p:nvSpPr>
          <p:cNvPr id="11" name="Shape 9"/>
          <p:cNvSpPr/>
          <p:nvPr/>
        </p:nvSpPr>
        <p:spPr>
          <a:xfrm>
            <a:off x="9509760" y="3566160"/>
            <a:ext cx="1234440" cy="1234440"/>
          </a:xfrm>
          <a:prstGeom prst="rect">
            <a:avLst/>
          </a:prstGeom>
          <a:solidFill>
            <a:srgbClr val="E8771E"/>
          </a:solidFill>
          <a:ln/>
        </p:spPr>
        <p:txBody>
          <a:bodyPr/>
          <a:lstStyle/>
          <a:p>
            <a:endParaRPr lang="ko-Kore-KR" altLang="en-US"/>
          </a:p>
        </p:txBody>
      </p:sp>
      <p:sp>
        <p:nvSpPr>
          <p:cNvPr id="12" name="Shape 10"/>
          <p:cNvSpPr/>
          <p:nvPr/>
        </p:nvSpPr>
        <p:spPr>
          <a:xfrm>
            <a:off x="10149840" y="4663440"/>
            <a:ext cx="1234440" cy="1234440"/>
          </a:xfrm>
          <a:prstGeom prst="rect">
            <a:avLst/>
          </a:prstGeom>
          <a:solidFill>
            <a:srgbClr val="1A1A1A"/>
          </a:solidFill>
          <a:ln/>
        </p:spPr>
        <p:txBody>
          <a:bodyPr/>
          <a:lstStyle/>
          <a:p>
            <a:endParaRPr lang="ko-Kore-KR" alt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TOC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CONTENTS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023360" y="566928"/>
            <a:ext cx="70408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00</a:t>
            </a:r>
            <a:endParaRPr lang="en-US" sz="1400" dirty="0"/>
          </a:p>
        </p:txBody>
      </p:sp>
      <p:sp>
        <p:nvSpPr>
          <p:cNvPr id="20" name="Title KR"/>
          <p:cNvSpPr/>
          <p:nvPr/>
        </p:nvSpPr>
        <p:spPr>
          <a:xfrm>
            <a:off x="548640" y="1417320"/>
            <a:ext cx="64008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4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목차</a:t>
            </a:r>
            <a:endParaRPr lang="en-US" sz="4000" dirty="0"/>
          </a:p>
        </p:txBody>
      </p:sp>
      <p:sp>
        <p:nvSpPr>
          <p:cNvPr id="21" name="Title EN"/>
          <p:cNvSpPr/>
          <p:nvPr/>
        </p:nvSpPr>
        <p:spPr>
          <a:xfrm>
            <a:off x="548640" y="2240280"/>
            <a:ext cx="6400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400" b="1" spc="1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TABLE OF CONTENTS</a:t>
            </a:r>
            <a:endParaRPr lang="en-US" sz="1400" dirty="0"/>
          </a:p>
        </p:txBody>
      </p:sp>
      <p:sp>
        <p:nvSpPr>
          <p:cNvPr id="30" name="Num 01"/>
          <p:cNvSpPr/>
          <p:nvPr/>
        </p:nvSpPr>
        <p:spPr>
          <a:xfrm>
            <a:off x="6217920" y="12395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01</a:t>
            </a:r>
            <a:endParaRPr lang="en-US" sz="2400" dirty="0"/>
          </a:p>
        </p:txBody>
      </p:sp>
      <p:sp>
        <p:nvSpPr>
          <p:cNvPr id="31" name="Item 01 Title"/>
          <p:cNvSpPr/>
          <p:nvPr/>
        </p:nvSpPr>
        <p:spPr>
          <a:xfrm>
            <a:off x="7132320" y="12395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Introduction</a:t>
            </a:r>
            <a:endParaRPr lang="en-US" sz="1800" dirty="0"/>
          </a:p>
        </p:txBody>
      </p:sp>
      <p:sp>
        <p:nvSpPr>
          <p:cNvPr id="33" name="Item 01 Detail"/>
          <p:cNvSpPr/>
          <p:nvPr/>
        </p:nvSpPr>
        <p:spPr>
          <a:xfrm>
            <a:off x="7132320" y="1696720"/>
            <a:ext cx="356616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35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P.03  </a:t>
            </a:r>
            <a:r>
              <a:rPr lang="en-US" sz="135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프로필 · 핵심 성과 · 기술 스택</a:t>
            </a:r>
            <a:endParaRPr lang="en-US" sz="1350" dirty="0"/>
          </a:p>
        </p:txBody>
      </p:sp>
      <p:sp>
        <p:nvSpPr>
          <p:cNvPr id="40" name="Num 02"/>
          <p:cNvSpPr/>
          <p:nvPr/>
        </p:nvSpPr>
        <p:spPr>
          <a:xfrm>
            <a:off x="6217920" y="283972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02</a:t>
            </a:r>
            <a:endParaRPr lang="en-US" sz="2400" dirty="0"/>
          </a:p>
        </p:txBody>
      </p:sp>
      <p:sp>
        <p:nvSpPr>
          <p:cNvPr id="41" name="Item 02 Title"/>
          <p:cNvSpPr/>
          <p:nvPr/>
        </p:nvSpPr>
        <p:spPr>
          <a:xfrm>
            <a:off x="7132320" y="283972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Experience 01. PeopleCore</a:t>
            </a:r>
            <a:endParaRPr lang="en-US" sz="1800" dirty="0"/>
          </a:p>
        </p:txBody>
      </p:sp>
      <p:sp>
        <p:nvSpPr>
          <p:cNvPr id="43" name="Item 02 Detail"/>
          <p:cNvSpPr/>
          <p:nvPr/>
        </p:nvSpPr>
        <p:spPr>
          <a:xfrm>
            <a:off x="7132320" y="329692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8000"/>
              </a:lnSpc>
              <a:buNone/>
            </a:pPr>
            <a:r>
              <a:rPr lang="en-US" sz="135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P.04  </a:t>
            </a:r>
            <a:r>
              <a:rPr lang="en-US" sz="135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개요 · 기술 스택</a:t>
            </a:r>
          </a:p>
          <a:p>
            <a:pPr marL="0" indent="0">
              <a:lnSpc>
                <a:spcPct val="158000"/>
              </a:lnSpc>
              <a:buNone/>
            </a:pPr>
            <a:r>
              <a:rPr lang="en-US" sz="135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P.05  </a:t>
            </a:r>
            <a:r>
              <a:rPr lang="en-US" sz="135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My Key Role · 핵심 설계</a:t>
            </a:r>
          </a:p>
          <a:p>
            <a:pPr marL="0" indent="0">
              <a:lnSpc>
                <a:spcPct val="158000"/>
              </a:lnSpc>
              <a:buNone/>
            </a:pPr>
            <a:r>
              <a:rPr lang="en-US" sz="135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P.06  </a:t>
            </a:r>
            <a:r>
              <a:rPr lang="en-US" sz="135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TroubleShooting · 동시성 제어</a:t>
            </a:r>
            <a:endParaRPr lang="en-US" sz="1350" dirty="0"/>
          </a:p>
        </p:txBody>
      </p:sp>
      <p:sp>
        <p:nvSpPr>
          <p:cNvPr id="50" name="Num 03"/>
          <p:cNvSpPr/>
          <p:nvPr/>
        </p:nvSpPr>
        <p:spPr>
          <a:xfrm>
            <a:off x="6217920" y="4851400"/>
            <a:ext cx="7315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2400" b="1" dirty="0">
                <a:solidFill>
                  <a:srgbClr val="F9731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03</a:t>
            </a:r>
            <a:endParaRPr lang="en-US" sz="2400" dirty="0"/>
          </a:p>
        </p:txBody>
      </p:sp>
      <p:sp>
        <p:nvSpPr>
          <p:cNvPr id="51" name="Item 03 Title"/>
          <p:cNvSpPr/>
          <p:nvPr/>
        </p:nvSpPr>
        <p:spPr>
          <a:xfrm>
            <a:off x="7132320" y="4851400"/>
            <a:ext cx="35661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buNone/>
            </a:pPr>
            <a:r>
              <a:rPr lang="en-US" sz="18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Experience 02. Pocha On</a:t>
            </a:r>
            <a:endParaRPr lang="en-US" sz="1800" dirty="0"/>
          </a:p>
        </p:txBody>
      </p:sp>
      <p:sp>
        <p:nvSpPr>
          <p:cNvPr id="53" name="Item 03 Detail"/>
          <p:cNvSpPr/>
          <p:nvPr/>
        </p:nvSpPr>
        <p:spPr>
          <a:xfrm>
            <a:off x="7132320" y="5308600"/>
            <a:ext cx="3840480" cy="9601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58000"/>
              </a:lnSpc>
              <a:buNone/>
            </a:pPr>
            <a:r>
              <a:rPr lang="en-US" sz="1350" b="1" dirty="0">
                <a:solidFill>
                  <a:srgbClr val="F9731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P.07  </a:t>
            </a:r>
            <a:r>
              <a:rPr lang="en-US" sz="135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프로젝트 개요 · 기술 스택</a:t>
            </a:r>
          </a:p>
          <a:p>
            <a:pPr marL="0" indent="0">
              <a:lnSpc>
                <a:spcPct val="158000"/>
              </a:lnSpc>
              <a:buNone/>
            </a:pPr>
            <a:r>
              <a:rPr lang="en-US" sz="1350" b="1" dirty="0">
                <a:solidFill>
                  <a:srgbClr val="F9731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P.08  </a:t>
            </a:r>
            <a:r>
              <a:rPr lang="en-US" sz="135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My Key Role · 실시간 아키텍처</a:t>
            </a:r>
          </a:p>
          <a:p>
            <a:pPr marL="0" indent="0">
              <a:lnSpc>
                <a:spcPct val="158000"/>
              </a:lnSpc>
              <a:buNone/>
            </a:pPr>
            <a:r>
              <a:rPr lang="en-US" sz="1350" b="1" dirty="0">
                <a:solidFill>
                  <a:srgbClr val="F97316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P.09  </a:t>
            </a:r>
            <a:r>
              <a:rPr lang="en-US" sz="1350" dirty="0">
                <a:solidFill>
                  <a:srgbClr val="444444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TroubleShooting · 메시지 유실 방지</a:t>
            </a:r>
            <a:endParaRPr lang="en-US" sz="13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INTRODUCTION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023360" y="566928"/>
            <a:ext cx="7040880" cy="0"/>
          </a:xfrm>
          <a:prstGeom prst="line">
            <a:avLst/>
          </a:prstGeom>
          <a:noFill/>
          <a:ln w="12700">
            <a:solidFill>
              <a:srgbClr val="111111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01</a:t>
            </a:r>
            <a:endParaRPr lang="en-US" sz="1400" dirty="0"/>
          </a:p>
        </p:txBody>
      </p:sp>
      <p:sp>
        <p:nvSpPr>
          <p:cNvPr id="6" name="Text 4"/>
          <p:cNvSpPr/>
          <p:nvPr/>
        </p:nvSpPr>
        <p:spPr>
          <a:xfrm>
            <a:off x="548640" y="1051560"/>
            <a:ext cx="2331720" cy="23317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altLang="ko-KR" sz="72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\</a:t>
            </a:r>
            <a:r>
              <a:rPr lang="en-US" sz="7200" b="1" dirty="0" err="1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黃</a:t>
            </a:r>
            <a:endParaRPr lang="en-US" sz="7200" dirty="0"/>
          </a:p>
        </p:txBody>
      </p:sp>
      <p:sp>
        <p:nvSpPr>
          <p:cNvPr id="7" name="Text 5"/>
          <p:cNvSpPr/>
          <p:nvPr/>
        </p:nvSpPr>
        <p:spPr>
          <a:xfrm>
            <a:off x="548640" y="3611880"/>
            <a:ext cx="23317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4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황주완</a:t>
            </a:r>
            <a:endParaRPr lang="en-US" sz="2400" dirty="0"/>
          </a:p>
        </p:txBody>
      </p:sp>
      <p:sp>
        <p:nvSpPr>
          <p:cNvPr id="8" name="Text 6"/>
          <p:cNvSpPr/>
          <p:nvPr/>
        </p:nvSpPr>
        <p:spPr>
          <a:xfrm>
            <a:off x="548640" y="4069080"/>
            <a:ext cx="2331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kern="0" spc="1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HWANG JU WAN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4526280"/>
            <a:ext cx="260604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Backend / AI Engineer</a:t>
            </a:r>
            <a:endParaRPr lang="en-US" sz="1150" dirty="0"/>
          </a:p>
          <a:p>
            <a:pPr marL="0" indent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juwan7056@naver.com</a:t>
            </a:r>
            <a:endParaRPr lang="en-US" sz="1150" dirty="0"/>
          </a:p>
          <a:p>
            <a:pPr marL="0" indent="0">
              <a:lnSpc>
                <a:spcPct val="110000"/>
              </a:lnSpc>
              <a:spcAft>
                <a:spcPts val="600"/>
              </a:spcAft>
              <a:buNone/>
            </a:pPr>
            <a:r>
              <a:rPr lang="en-US" sz="115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github.com/HwangJwan</a:t>
            </a:r>
            <a:endParaRPr lang="en-US" sz="1150" dirty="0"/>
          </a:p>
        </p:txBody>
      </p:sp>
      <p:sp>
        <p:nvSpPr>
          <p:cNvPr id="10" name="Shape 8"/>
          <p:cNvSpPr/>
          <p:nvPr/>
        </p:nvSpPr>
        <p:spPr>
          <a:xfrm>
            <a:off x="3429000" y="1051560"/>
            <a:ext cx="0" cy="475488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1" name="Text 9"/>
          <p:cNvSpPr/>
          <p:nvPr/>
        </p:nvSpPr>
        <p:spPr>
          <a:xfrm>
            <a:off x="3794760" y="1005840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EDUCATION</a:t>
            </a:r>
            <a:endParaRPr lang="en-US" sz="1600" dirty="0"/>
          </a:p>
        </p:txBody>
      </p:sp>
      <p:sp>
        <p:nvSpPr>
          <p:cNvPr id="12" name="Text 10"/>
          <p:cNvSpPr/>
          <p:nvPr/>
        </p:nvSpPr>
        <p:spPr>
          <a:xfrm>
            <a:off x="3794760" y="1335024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</a:t>
            </a:r>
            <a:r>
              <a:rPr lang="en-US" altLang="ko-KR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6</a:t>
            </a:r>
            <a:r>
              <a:rPr lang="en-US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 </a:t>
            </a:r>
            <a:r>
              <a:rPr lang="ko-KR" altLang="en-US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한화시스템 </a:t>
            </a:r>
            <a:r>
              <a:rPr lang="en-US" altLang="ko-KR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BEYOND SW CAMP 23</a:t>
            </a:r>
            <a:r>
              <a:rPr lang="ko-KR" altLang="en-US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 수료</a:t>
            </a:r>
            <a:endParaRPr lang="en-US" sz="1200" dirty="0"/>
          </a:p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202</a:t>
            </a:r>
            <a:r>
              <a:rPr lang="en-US" altLang="ko-KR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</a:t>
            </a:r>
            <a:r>
              <a:rPr lang="en-US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 </a:t>
            </a:r>
            <a:r>
              <a:rPr lang="ko-KR" altLang="en-US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강남대학교 </a:t>
            </a:r>
            <a:r>
              <a:rPr lang="en-US" sz="1200" dirty="0" err="1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컴퓨터공학</a:t>
            </a:r>
            <a:r>
              <a:rPr lang="en-US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전공 학사 졸업</a:t>
            </a:r>
            <a:endParaRPr lang="en-US" sz="1200" dirty="0"/>
          </a:p>
        </p:txBody>
      </p:sp>
      <p:sp>
        <p:nvSpPr>
          <p:cNvPr id="13" name="Text 11"/>
          <p:cNvSpPr/>
          <p:nvPr/>
        </p:nvSpPr>
        <p:spPr>
          <a:xfrm>
            <a:off x="3794760" y="2596896"/>
            <a:ext cx="42062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KEY ACHIEVEMENTS</a:t>
            </a:r>
            <a:endParaRPr lang="en-US" sz="1600" dirty="0"/>
          </a:p>
        </p:txBody>
      </p:sp>
      <p:sp>
        <p:nvSpPr>
          <p:cNvPr id="14" name="Text 12"/>
          <p:cNvSpPr/>
          <p:nvPr/>
        </p:nvSpPr>
        <p:spPr>
          <a:xfrm>
            <a:off x="3794760" y="2926080"/>
            <a:ext cx="434340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키워드·의미 검색을 결합한 Hybrid Search로 검색 정확도 </a:t>
            </a:r>
            <a:r>
              <a:rPr lang="en-US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95%</a:t>
            </a:r>
            <a:r>
              <a:rPr lang="en-US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달성</a:t>
            </a:r>
            <a:endParaRPr lang="en-US" sz="1200" dirty="0"/>
          </a:p>
          <a:p>
            <a:pPr marL="0" indent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동시 주문 100건에서 재고 차감 에러율을 </a:t>
            </a:r>
            <a:r>
              <a:rPr lang="en-US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75%→0%</a:t>
            </a:r>
            <a:r>
              <a:rPr lang="en-US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로 개선</a:t>
            </a:r>
            <a:endParaRPr lang="en-US" sz="1200" dirty="0"/>
          </a:p>
          <a:p>
            <a:pPr marL="0" indent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Prompt Caching으로 AI 호출당 비용 </a:t>
            </a:r>
            <a:r>
              <a:rPr lang="en-US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83%</a:t>
            </a:r>
            <a:r>
              <a:rPr lang="en-US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절감</a:t>
            </a:r>
            <a:endParaRPr lang="en-US" sz="1200" dirty="0"/>
          </a:p>
          <a:p>
            <a:pPr marL="0" indent="0">
              <a:lnSpc>
                <a:spcPct val="105000"/>
              </a:lnSpc>
              <a:spcAft>
                <a:spcPts val="600"/>
              </a:spcAft>
              <a:buNone/>
            </a:pPr>
            <a:r>
              <a:rPr lang="en-US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안면인식 로그인 응답 속도를 27초에서 </a:t>
            </a:r>
            <a:r>
              <a:rPr lang="en-US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3초</a:t>
            </a:r>
            <a:r>
              <a:rPr lang="en-US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로 단축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3794760" y="4956048"/>
            <a:ext cx="41148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FOCUS</a:t>
            </a:r>
            <a:endParaRPr lang="en-US" sz="1600" dirty="0"/>
          </a:p>
        </p:txBody>
      </p:sp>
      <p:sp>
        <p:nvSpPr>
          <p:cNvPr id="16" name="Text 14"/>
          <p:cNvSpPr/>
          <p:nvPr/>
        </p:nvSpPr>
        <p:spPr>
          <a:xfrm>
            <a:off x="3794760" y="5285232"/>
            <a:ext cx="42062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MSA · 멀티테넌시 · 동시성 제어</a:t>
            </a:r>
            <a:endParaRPr lang="en-US" sz="1200" dirty="0"/>
          </a:p>
          <a:p>
            <a:pPr marL="0" indent="0">
              <a:lnSpc>
                <a:spcPct val="105000"/>
              </a:lnSpc>
              <a:spcAft>
                <a:spcPts val="400"/>
              </a:spcAft>
              <a:buNone/>
            </a:pPr>
            <a:r>
              <a:rPr lang="en-US" sz="12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Hybrid Search · LLM 라우팅 · CDC 파이프라인</a:t>
            </a:r>
            <a:endParaRPr lang="en-US" sz="1200" dirty="0"/>
          </a:p>
        </p:txBody>
      </p:sp>
      <p:sp>
        <p:nvSpPr>
          <p:cNvPr id="17" name="Shape 15"/>
          <p:cNvSpPr/>
          <p:nvPr/>
        </p:nvSpPr>
        <p:spPr>
          <a:xfrm>
            <a:off x="8275320" y="1051560"/>
            <a:ext cx="0" cy="475488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8" name="Text 16"/>
          <p:cNvSpPr/>
          <p:nvPr/>
        </p:nvSpPr>
        <p:spPr>
          <a:xfrm>
            <a:off x="8641080" y="1005840"/>
            <a:ext cx="32004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TECH STACK</a:t>
            </a:r>
            <a:endParaRPr lang="en-US" sz="1600" dirty="0"/>
          </a:p>
        </p:txBody>
      </p:sp>
      <p:sp>
        <p:nvSpPr>
          <p:cNvPr id="19" name="Shape 17"/>
          <p:cNvSpPr/>
          <p:nvPr/>
        </p:nvSpPr>
        <p:spPr>
          <a:xfrm>
            <a:off x="8641080" y="1417320"/>
            <a:ext cx="3200400" cy="0"/>
          </a:xfrm>
          <a:prstGeom prst="line">
            <a:avLst/>
          </a:prstGeom>
          <a:noFill/>
          <a:ln w="1270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0" name="Text 18"/>
          <p:cNvSpPr/>
          <p:nvPr/>
        </p:nvSpPr>
        <p:spPr>
          <a:xfrm>
            <a:off x="8641080" y="16916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Backend</a:t>
            </a:r>
            <a:endParaRPr lang="en-US" sz="1500" dirty="0"/>
          </a:p>
        </p:txBody>
      </p:sp>
      <p:sp>
        <p:nvSpPr>
          <p:cNvPr id="21" name="Text 19"/>
          <p:cNvSpPr/>
          <p:nvPr/>
        </p:nvSpPr>
        <p:spPr>
          <a:xfrm>
            <a:off x="8641080" y="20574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Java 17 · Spring Boot 3 · Spring Security · Spring Data JPA · Spring Kafka · WebSocket/STOMP</a:t>
            </a:r>
            <a:endParaRPr lang="en-US" sz="1150" dirty="0"/>
          </a:p>
        </p:txBody>
      </p:sp>
      <p:sp>
        <p:nvSpPr>
          <p:cNvPr id="22" name="Text 20"/>
          <p:cNvSpPr/>
          <p:nvPr/>
        </p:nvSpPr>
        <p:spPr>
          <a:xfrm>
            <a:off x="8641080" y="3063240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AI · Search</a:t>
            </a:r>
            <a:endParaRPr lang="en-US" sz="1500" dirty="0"/>
          </a:p>
        </p:txBody>
      </p:sp>
      <p:sp>
        <p:nvSpPr>
          <p:cNvPr id="23" name="Text 21"/>
          <p:cNvSpPr/>
          <p:nvPr/>
        </p:nvSpPr>
        <p:spPr>
          <a:xfrm>
            <a:off x="8641080" y="3429000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FastAPI · Elasticsearch · ChromaDB · EXAONE 3.5 · Claude Haiku · OpenAI Embeddings</a:t>
            </a:r>
            <a:endParaRPr lang="en-US" sz="1150" dirty="0"/>
          </a:p>
        </p:txBody>
      </p:sp>
      <p:sp>
        <p:nvSpPr>
          <p:cNvPr id="24" name="Text 22"/>
          <p:cNvSpPr/>
          <p:nvPr/>
        </p:nvSpPr>
        <p:spPr>
          <a:xfrm>
            <a:off x="8641080" y="4178808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Data</a:t>
            </a:r>
            <a:endParaRPr lang="en-US" sz="1500" dirty="0"/>
          </a:p>
        </p:txBody>
      </p:sp>
      <p:sp>
        <p:nvSpPr>
          <p:cNvPr id="25" name="Text 23"/>
          <p:cNvSpPr/>
          <p:nvPr/>
        </p:nvSpPr>
        <p:spPr>
          <a:xfrm>
            <a:off x="8641080" y="4544568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MySQL 8 · Redis 7 · Kafka · Debezium CDC · MinIO · Redis Pub/Sub</a:t>
            </a:r>
            <a:endParaRPr lang="en-US" sz="1150" dirty="0"/>
          </a:p>
        </p:txBody>
      </p:sp>
      <p:sp>
        <p:nvSpPr>
          <p:cNvPr id="26" name="Text 24"/>
          <p:cNvSpPr/>
          <p:nvPr/>
        </p:nvSpPr>
        <p:spPr>
          <a:xfrm>
            <a:off x="8641080" y="5294376"/>
            <a:ext cx="32918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5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Infra · CI/CD</a:t>
            </a:r>
            <a:endParaRPr lang="en-US" sz="1500" dirty="0"/>
          </a:p>
        </p:txBody>
      </p:sp>
      <p:sp>
        <p:nvSpPr>
          <p:cNvPr id="27" name="Text 25"/>
          <p:cNvSpPr/>
          <p:nvPr/>
        </p:nvSpPr>
        <p:spPr>
          <a:xfrm>
            <a:off x="8641080" y="5660136"/>
            <a:ext cx="3291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15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Docker · Kubernetes(EKS) · AWS · nginx Ingress · GitHub Actions · JMeter</a:t>
            </a:r>
            <a:endParaRPr lang="en-US" sz="1150" dirty="0"/>
          </a:p>
        </p:txBody>
      </p:sp>
      <p:pic>
        <p:nvPicPr>
          <p:cNvPr id="29" name="그림 28">
            <a:extLst>
              <a:ext uri="{FF2B5EF4-FFF2-40B4-BE49-F238E27FC236}">
                <a16:creationId xmlns:a16="http://schemas.microsoft.com/office/drawing/2014/main" id="{87A2CB17-5F1F-8DFB-40F4-AEE5F2D52C2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82148" y="977755"/>
            <a:ext cx="1903608" cy="2565545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EXPERIENCE 01. PEOPLECORE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023360" y="566928"/>
            <a:ext cx="7040880" cy="0"/>
          </a:xfrm>
          <a:prstGeom prst="line">
            <a:avLst/>
          </a:prstGeom>
          <a:noFill/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02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PeopleCore</a:t>
            </a:r>
            <a:r>
              <a:rPr lang="en-US" sz="300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 피플코어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14813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MSA 기반 SaaS 통합 </a:t>
            </a:r>
            <a:r>
              <a:rPr lang="en-US" sz="1300" dirty="0" err="1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인사</a:t>
            </a:r>
            <a:r>
              <a:rPr lang="en-US" sz="13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en-US" sz="1300" dirty="0" err="1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시스템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Project Overview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94360" y="2542032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4인  ·  2026.03 - 2026.05  · </a:t>
            </a:r>
            <a:r>
              <a:rPr lang="ko-KR" altLang="en-US" sz="1200" b="1" dirty="0" err="1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프론트엔드</a:t>
            </a:r>
            <a:r>
              <a:rPr lang="ko-KR" altLang="en-US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en-US" altLang="ko-Kore-KR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·</a:t>
            </a:r>
            <a:r>
              <a:rPr lang="en-US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en-US" sz="1200" b="1" dirty="0" err="1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백엔드</a:t>
            </a:r>
            <a:r>
              <a:rPr lang="en-US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/ AI</a:t>
            </a:r>
            <a:r>
              <a:rPr lang="ko-KR" altLang="en-US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en-US" altLang="ko-Kore-KR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·</a:t>
            </a:r>
            <a:r>
              <a:rPr lang="ko-KR" altLang="en-US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인프라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92608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MSA 기반 </a:t>
            </a:r>
            <a:r>
              <a:rPr lang="en-US" sz="1250" b="1" dirty="0">
                <a:solidFill>
                  <a:srgbClr val="1B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SaaS 통합 인사 시스템</a:t>
            </a:r>
            <a:r>
              <a:rPr lang="en-US" sz="1250" dirty="0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으로, 중견·중소 기업을 위한 HR 솔루션. 고객사별 사용 환경·업무 프로세스·정책·권한을 폭넓게 커스텀할 수 있도록 설계, 서비스별 독립 배포 구조로 유연성과 확장성 확보.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34340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Tech Stack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92040"/>
          <a:ext cx="5897880" cy="1243584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D9E75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Backend</a:t>
                      </a:r>
                      <a:endParaRPr lang="en-US" sz="10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Java 17, Spring Boot 3, Spring Security, JPA</a:t>
                      </a:r>
                      <a:endParaRPr lang="en-US" sz="10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D9E75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AI · Search</a:t>
                      </a:r>
                      <a:endParaRPr lang="en-US" sz="10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FastAPI, Elasticsearch, ChromaDB, EXAONE 3.5, Claude Haiku</a:t>
                      </a:r>
                      <a:endParaRPr lang="en-US" sz="10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D9E75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Data</a:t>
                      </a:r>
                      <a:endParaRPr lang="en-US" sz="10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MySQL 8, Redis 7, Kafka, Debezium CDC, MinIO</a:t>
                      </a:r>
                      <a:endParaRPr lang="en-US" sz="10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1D9E75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Infra</a:t>
                      </a:r>
                      <a:endParaRPr lang="en-US" sz="10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Docker, Kubernetes(EKS), AWS, nginx, GitHub Actions</a:t>
                      </a:r>
                      <a:endParaRPr lang="en-US" sz="10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1211580" y="2862072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  <a:hlinkClick r:id="rId3"/>
              </a:rPr>
              <a:t>https://github.com/beyond-sw-camp/be23-fin-2team-PeopleCore-be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903720" y="1737360"/>
            <a:ext cx="47091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ore-KR" altLang="en-US"/>
          </a:p>
        </p:txBody>
      </p:sp>
      <p:pic>
        <p:nvPicPr>
          <p:cNvPr id="16" name="Dashboard Scre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22727" y="1938527"/>
            <a:ext cx="4043714" cy="2613906"/>
          </a:xfrm>
          <a:prstGeom prst="rect">
            <a:avLst/>
          </a:prstGeom>
          <a:ln w="9525">
            <a:solidFill>
              <a:srgbClr val="E2E2E2"/>
            </a:solidFill>
          </a:ln>
        </p:spPr>
      </p:pic>
      <p:pic>
        <p:nvPicPr>
          <p:cNvPr id="18" name="Salary Search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74919" y="4826624"/>
            <a:ext cx="2229101" cy="998104"/>
          </a:xfrm>
          <a:prstGeom prst="rect">
            <a:avLst/>
          </a:prstGeom>
          <a:ln w="9525">
            <a:solidFill>
              <a:srgbClr val="E2E2E2"/>
            </a:solidFill>
          </a:ln>
        </p:spPr>
      </p:pic>
      <p:sp>
        <p:nvSpPr>
          <p:cNvPr id="19" name="Label Monthly"/>
          <p:cNvSpPr/>
          <p:nvPr/>
        </p:nvSpPr>
        <p:spPr>
          <a:xfrm>
            <a:off x="8189469" y="4598024"/>
            <a:ext cx="2080260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 err="1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</a:rPr>
              <a:t>PeopleCore</a:t>
            </a:r>
            <a:r>
              <a:rPr lang="en-US" sz="100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</a:rPr>
              <a:t> </a:t>
            </a:r>
            <a:r>
              <a:rPr lang="ko-KR" altLang="en-US" sz="100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</a:rPr>
              <a:t>대시보드</a:t>
            </a:r>
            <a:endParaRPr lang="en-US" sz="1000" dirty="0"/>
          </a:p>
        </p:txBody>
      </p:sp>
      <p:pic>
        <p:nvPicPr>
          <p:cNvPr id="20" name="Monthly Search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9304020" y="4826624"/>
            <a:ext cx="2080260" cy="998104"/>
          </a:xfrm>
          <a:prstGeom prst="rect">
            <a:avLst/>
          </a:prstGeom>
          <a:ln w="9525">
            <a:solidFill>
              <a:srgbClr val="E2E2E2"/>
            </a:solidFill>
          </a:ln>
        </p:spPr>
      </p:pic>
      <p:sp>
        <p:nvSpPr>
          <p:cNvPr id="21" name="Caption"/>
          <p:cNvSpPr/>
          <p:nvPr/>
        </p:nvSpPr>
        <p:spPr>
          <a:xfrm>
            <a:off x="7114032" y="5897880"/>
            <a:ext cx="4270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Hybrid Search로 유사어를 의미 기반 동일 인식 (Recall@5 95%)</a:t>
            </a:r>
            <a:endParaRPr lang="en-US" sz="1000" dirty="0"/>
          </a:p>
        </p:txBody>
      </p:sp>
      <p:sp>
        <p:nvSpPr>
          <p:cNvPr id="22" name="Text 7">
            <a:extLst>
              <a:ext uri="{FF2B5EF4-FFF2-40B4-BE49-F238E27FC236}">
                <a16:creationId xmlns:a16="http://schemas.microsoft.com/office/drawing/2014/main" id="{F45D9082-B274-B1C7-7814-0D7CA84EF60A}"/>
              </a:ext>
            </a:extLst>
          </p:cNvPr>
          <p:cNvSpPr/>
          <p:nvPr/>
        </p:nvSpPr>
        <p:spPr>
          <a:xfrm>
            <a:off x="594360" y="2907792"/>
            <a:ext cx="6847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</a:rPr>
              <a:t>GitHub :</a:t>
            </a:r>
            <a:endParaRPr lang="en-US" sz="12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EXPERIENCE 01. PEOPLECORE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023360" y="566928"/>
            <a:ext cx="7040880" cy="0"/>
          </a:xfrm>
          <a:prstGeom prst="line">
            <a:avLst/>
          </a:prstGeom>
          <a:noFill/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03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My Key Role</a:t>
            </a:r>
            <a:endParaRPr lang="en-US" sz="1250" dirty="0"/>
          </a:p>
        </p:txBody>
      </p:sp>
      <p:sp>
        <p:nvSpPr>
          <p:cNvPr id="40" name="Role Summary"/>
          <p:cNvSpPr/>
          <p:nvPr/>
        </p:nvSpPr>
        <p:spPr>
          <a:xfrm>
            <a:off x="566928" y="139903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담당 기능</a:t>
            </a:r>
            <a:r>
              <a:rPr lang="en-US" sz="11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  로그인(ID/PW · 안면인식) · 조직도 관리 · 통합검색 · 파일함 · AI Copilot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566928" y="1819656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LLM 이중 라우팅 설계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민감 발화는 로컬 EXAONE 3.5, 일반 발화는 Claude Haiku로 분기 라우팅하여 PIPA 준수와 </a:t>
            </a:r>
            <a:r>
              <a:rPr lang="en-US" sz="1100" dirty="0" err="1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성능</a:t>
            </a:r>
            <a:r>
              <a:rPr lang="en-US" sz="11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 err="1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동시</a:t>
            </a:r>
            <a:r>
              <a:rPr lang="en-US" sz="11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확보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66928" y="2386584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RRF Hybrid Search 구축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BM25 키워드 매칭과 kNN 의미 검색을 RRF로 결합, Recall@5 95% 달성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66928" y="2953512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Debezium CDC 색인 파이프라인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MySQL binlog 기반 CDC로 DB 변경을 Elasticsearch에 자동 색인, 이벤트 누락 0건</a:t>
            </a:r>
            <a:endParaRPr lang="en-US" sz="1250" dirty="0"/>
          </a:p>
        </p:txBody>
      </p:sp>
      <p:sp>
        <p:nvSpPr>
          <p:cNvPr id="10" name="Text 8"/>
          <p:cNvSpPr/>
          <p:nvPr/>
        </p:nvSpPr>
        <p:spPr>
          <a:xfrm>
            <a:off x="566928" y="3520440"/>
            <a:ext cx="5852160" cy="56692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멀티테넌시 / 파일 권한 모델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company_id 기반 동일 DB 격리, MinIO Presigned URL 직접 업로드 + 2-Tier 권한</a:t>
            </a:r>
            <a:endParaRPr lang="en-US" sz="1250" dirty="0"/>
          </a:p>
        </p:txBody>
      </p:sp>
      <p:sp>
        <p:nvSpPr>
          <p:cNvPr id="41" name="Perf Hybrid Search"/>
          <p:cNvSpPr/>
          <p:nvPr/>
        </p:nvSpPr>
        <p:spPr>
          <a:xfrm>
            <a:off x="579120" y="4087368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Hybrid Search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키워드 기반 + 벡터 기반 검색을 결합한 Hybrid 검색으로 검색 정확도 95% 달성</a:t>
            </a:r>
            <a:endParaRPr lang="en-US" sz="1100" dirty="0"/>
          </a:p>
        </p:txBody>
      </p:sp>
      <p:sp>
        <p:nvSpPr>
          <p:cNvPr id="13" name="Text 11"/>
          <p:cNvSpPr/>
          <p:nvPr/>
        </p:nvSpPr>
        <p:spPr>
          <a:xfrm>
            <a:off x="579120" y="4617720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Prompt Caching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시스템 프롬프트 재사용으로 2차 호출부터 호출당 비용 83% 절감 ($0.006202 → $0.001075)</a:t>
            </a:r>
            <a:endParaRPr lang="en-US" sz="1250" dirty="0"/>
          </a:p>
        </p:txBody>
      </p:sp>
      <p:sp>
        <p:nvSpPr>
          <p:cNvPr id="14" name="Text 12"/>
          <p:cNvSpPr/>
          <p:nvPr/>
        </p:nvSpPr>
        <p:spPr>
          <a:xfrm>
            <a:off x="579120" y="5148072"/>
            <a:ext cx="585216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안면인식 로그인</a:t>
            </a:r>
            <a:endParaRPr lang="en-US" sz="125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1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face_recognition 채택으로 DeepFace 27초 → 3초, 9배 단축 · 임계값 실측 튜닝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766560" y="868680"/>
            <a:ext cx="214884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6" name="Text 14"/>
          <p:cNvSpPr/>
          <p:nvPr/>
        </p:nvSpPr>
        <p:spPr>
          <a:xfrm>
            <a:off x="6766560" y="868680"/>
            <a:ext cx="214884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System Architecture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766560" y="1463040"/>
            <a:ext cx="4846320" cy="475488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8" name="Text 16"/>
          <p:cNvSpPr/>
          <p:nvPr/>
        </p:nvSpPr>
        <p:spPr>
          <a:xfrm>
            <a:off x="6766560" y="16002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마이크로서비스 아키텍처 개념도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2103120"/>
            <a:ext cx="15544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0" name="Text 18"/>
          <p:cNvSpPr/>
          <p:nvPr/>
        </p:nvSpPr>
        <p:spPr>
          <a:xfrm>
            <a:off x="8275320" y="2103120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Client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89720" y="2615184"/>
            <a:ext cx="0" cy="219456"/>
          </a:xfrm>
          <a:prstGeom prst="line">
            <a:avLst/>
          </a:prstGeom>
          <a:noFill/>
          <a:ln w="19050">
            <a:solidFill>
              <a:srgbClr val="1D9E75"/>
            </a:solidFill>
            <a:prstDash val="solid"/>
            <a:tailEnd type="triangle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2" name="Shape 20"/>
          <p:cNvSpPr/>
          <p:nvPr/>
        </p:nvSpPr>
        <p:spPr>
          <a:xfrm>
            <a:off x="8412480" y="2834640"/>
            <a:ext cx="1554480" cy="512064"/>
          </a:xfrm>
          <a:prstGeom prst="roundRect">
            <a:avLst>
              <a:gd name="adj" fmla="val 10714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3" name="Text 21"/>
          <p:cNvSpPr/>
          <p:nvPr/>
        </p:nvSpPr>
        <p:spPr>
          <a:xfrm>
            <a:off x="8275320" y="2834640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API Gateway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189720" y="3346704"/>
            <a:ext cx="0" cy="219456"/>
          </a:xfrm>
          <a:prstGeom prst="line">
            <a:avLst/>
          </a:prstGeom>
          <a:noFill/>
          <a:ln w="19050">
            <a:solidFill>
              <a:srgbClr val="1D9E75"/>
            </a:solidFill>
            <a:prstDash val="solid"/>
            <a:tailEnd type="triangle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5" name="Shape 23"/>
          <p:cNvSpPr/>
          <p:nvPr/>
        </p:nvSpPr>
        <p:spPr>
          <a:xfrm>
            <a:off x="8412480" y="3566160"/>
            <a:ext cx="1554480" cy="685800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6" name="Text 24"/>
          <p:cNvSpPr/>
          <p:nvPr/>
        </p:nvSpPr>
        <p:spPr>
          <a:xfrm>
            <a:off x="8275320" y="356616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MSA Services</a:t>
            </a:r>
            <a:endParaRPr lang="en-US" sz="1000" dirty="0"/>
          </a:p>
          <a:p>
            <a:pPr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en-US" sz="8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hr-service · search-service · collaboration-service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9189720" y="4251960"/>
            <a:ext cx="0" cy="219456"/>
          </a:xfrm>
          <a:prstGeom prst="line">
            <a:avLst/>
          </a:prstGeom>
          <a:noFill/>
          <a:ln w="19050">
            <a:solidFill>
              <a:srgbClr val="1D9E75"/>
            </a:solidFill>
            <a:prstDash val="solid"/>
            <a:tailEnd type="triangle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8" name="Shape 26"/>
          <p:cNvSpPr/>
          <p:nvPr/>
        </p:nvSpPr>
        <p:spPr>
          <a:xfrm>
            <a:off x="8412480" y="4471416"/>
            <a:ext cx="15544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9" name="Text 27"/>
          <p:cNvSpPr/>
          <p:nvPr/>
        </p:nvSpPr>
        <p:spPr>
          <a:xfrm>
            <a:off x="8275320" y="44714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Kafka / Debezium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189720" y="4983480"/>
            <a:ext cx="0" cy="219456"/>
          </a:xfrm>
          <a:prstGeom prst="line">
            <a:avLst/>
          </a:prstGeom>
          <a:noFill/>
          <a:ln w="19050">
            <a:solidFill>
              <a:srgbClr val="1D9E75"/>
            </a:solidFill>
            <a:prstDash val="solid"/>
            <a:tailEnd type="triangle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1" name="Shape 29"/>
          <p:cNvSpPr/>
          <p:nvPr/>
        </p:nvSpPr>
        <p:spPr>
          <a:xfrm>
            <a:off x="8412480" y="5202936"/>
            <a:ext cx="1554480" cy="512064"/>
          </a:xfrm>
          <a:prstGeom prst="roundRect">
            <a:avLst>
              <a:gd name="adj" fmla="val 10714"/>
            </a:avLst>
          </a:prstGeom>
          <a:solidFill>
            <a:srgbClr val="1D9E75"/>
          </a:solidFill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2" name="Text 30"/>
          <p:cNvSpPr/>
          <p:nvPr/>
        </p:nvSpPr>
        <p:spPr>
          <a:xfrm>
            <a:off x="8275320" y="520293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MySQL · ES · ChromaDB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903720" y="5943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A9A9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* 서비스별 독립 배포 · 이벤트 기반 통신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EXPERIENCE 01. PEOPLECORE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023360" y="566928"/>
            <a:ext cx="7040880" cy="0"/>
          </a:xfrm>
          <a:prstGeom prst="line">
            <a:avLst/>
          </a:prstGeom>
          <a:noFill/>
          <a:ln w="12700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04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TroubleShooting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Case 01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1996440"/>
            <a:ext cx="342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EXAONE Tool Use 미지원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342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Problem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2743200"/>
            <a:ext cx="342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로컬 LLM EXAONE 3.5가 네이티브 Tool Use(함수 호출)를 지원하지 않아 도구 호출형 AI Copilot 구현 불가.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3611880"/>
            <a:ext cx="342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Analysis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886200"/>
            <a:ext cx="342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모델 교체는 PIPA 로컬 추론 요건과 충돌. 도구가 아닌 구조로 동일 결과를 내야 함을 파악.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4754880"/>
            <a:ext cx="342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Solution &amp; Result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5029200"/>
            <a:ext cx="342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[[CALL]] 마커 기반 Manual Prompting 프로토콜을 직접 설계, </a:t>
            </a:r>
          </a:p>
          <a:p>
            <a:pPr marL="0" indent="0">
              <a:lnSpc>
                <a:spcPct val="118000"/>
              </a:lnSpc>
              <a:buNone/>
            </a:pPr>
            <a:r>
              <a:rPr lang="en-US" sz="1000" dirty="0" err="1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마커</a:t>
            </a:r>
            <a:r>
              <a:rPr lang="en-US" sz="1000" dirty="0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파싱으로 네이티브와 동등한 도구 호출 구현.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84040" y="150876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6" name="Text 14"/>
          <p:cNvSpPr/>
          <p:nvPr/>
        </p:nvSpPr>
        <p:spPr>
          <a:xfrm>
            <a:off x="4384040" y="150876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Case 02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384040" y="1996440"/>
            <a:ext cx="342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검색 정확 매칭 한계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84040" y="2468880"/>
            <a:ext cx="342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Problem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384040" y="2743200"/>
            <a:ext cx="342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벡터(kNN) 의미 검색만으로는 사번·부서명 같은 정확 키워드 매칭이 약해 검색 품질 저하.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84040" y="3611880"/>
            <a:ext cx="342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Analysis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384040" y="3886200"/>
            <a:ext cx="342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BM25는 정확 매칭, 벡터는 의미 유사에 강한 상호 보완 관계임을 직접 분석해 확인.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384040" y="4754880"/>
            <a:ext cx="342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Solution &amp; Result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384040" y="5029200"/>
            <a:ext cx="342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BM25 + kNN을 RRF로 결합한 Hybrid Search를 Elasticsearch 위에 구현, Recall@5 95% 달성.</a:t>
            </a:r>
            <a:endParaRPr lang="en-US" sz="1000" dirty="0"/>
          </a:p>
        </p:txBody>
      </p:sp>
      <p:sp>
        <p:nvSpPr>
          <p:cNvPr id="30" name="Case03 Badge"/>
          <p:cNvSpPr/>
          <p:nvPr/>
        </p:nvSpPr>
        <p:spPr>
          <a:xfrm>
            <a:off x="8219440" y="150876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1D9E75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1" name="Case03 BadgeText"/>
          <p:cNvSpPr/>
          <p:nvPr/>
        </p:nvSpPr>
        <p:spPr>
          <a:xfrm>
            <a:off x="8219440" y="150876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Case 03</a:t>
            </a:r>
            <a:endParaRPr lang="en-US" sz="1150" dirty="0"/>
          </a:p>
        </p:txBody>
      </p:sp>
      <p:sp>
        <p:nvSpPr>
          <p:cNvPr id="32" name="Case03 Title"/>
          <p:cNvSpPr/>
          <p:nvPr/>
        </p:nvSpPr>
        <p:spPr>
          <a:xfrm>
            <a:off x="8219440" y="1996440"/>
            <a:ext cx="342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DB-ES 정합성 유지</a:t>
            </a:r>
            <a:endParaRPr lang="en-US" sz="1300" dirty="0"/>
          </a:p>
        </p:txBody>
      </p:sp>
      <p:sp>
        <p:nvSpPr>
          <p:cNvPr id="33" name="Case03 ProblemL"/>
          <p:cNvSpPr/>
          <p:nvPr/>
        </p:nvSpPr>
        <p:spPr>
          <a:xfrm>
            <a:off x="8219440" y="2468880"/>
            <a:ext cx="342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Problem</a:t>
            </a:r>
            <a:endParaRPr lang="en-US" sz="1150" dirty="0"/>
          </a:p>
        </p:txBody>
      </p:sp>
      <p:sp>
        <p:nvSpPr>
          <p:cNvPr id="34" name="Case03 ProblemB"/>
          <p:cNvSpPr/>
          <p:nvPr/>
        </p:nvSpPr>
        <p:spPr>
          <a:xfrm>
            <a:off x="8219440" y="2743200"/>
            <a:ext cx="342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기존엔 CRUD 발생마다 Kafka 이벤트를 직접 발행. 누락 위험과 업무 효율 하락, 코드 가독성 저하.</a:t>
            </a:r>
            <a:endParaRPr lang="en-US" sz="1000" dirty="0"/>
          </a:p>
        </p:txBody>
      </p:sp>
      <p:sp>
        <p:nvSpPr>
          <p:cNvPr id="35" name="Case03 AnalysisL"/>
          <p:cNvSpPr/>
          <p:nvPr/>
        </p:nvSpPr>
        <p:spPr>
          <a:xfrm>
            <a:off x="8219440" y="3611880"/>
            <a:ext cx="342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Analysis</a:t>
            </a:r>
            <a:endParaRPr lang="en-US" sz="1150" dirty="0"/>
          </a:p>
        </p:txBody>
      </p:sp>
      <p:sp>
        <p:nvSpPr>
          <p:cNvPr id="36" name="Case03 AnalysisB"/>
          <p:cNvSpPr/>
          <p:nvPr/>
        </p:nvSpPr>
        <p:spPr>
          <a:xfrm>
            <a:off x="8219440" y="3886200"/>
            <a:ext cx="342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애플리케이션이 직접 이벤트를 챙기는 대신, DB 변경 자체를 단일 출처로 감지하는 CDC 방식이 적합함을 파악.</a:t>
            </a:r>
            <a:endParaRPr lang="en-US" sz="1000" dirty="0"/>
          </a:p>
        </p:txBody>
      </p:sp>
      <p:sp>
        <p:nvSpPr>
          <p:cNvPr id="37" name="Case03 SolutionL"/>
          <p:cNvSpPr/>
          <p:nvPr/>
        </p:nvSpPr>
        <p:spPr>
          <a:xfrm>
            <a:off x="8219440" y="4754880"/>
            <a:ext cx="342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Solution &amp; Result</a:t>
            </a:r>
            <a:endParaRPr lang="en-US" sz="1150" dirty="0"/>
          </a:p>
        </p:txBody>
      </p:sp>
      <p:sp>
        <p:nvSpPr>
          <p:cNvPr id="38" name="Case03 SolutionB"/>
          <p:cNvSpPr/>
          <p:nvPr/>
        </p:nvSpPr>
        <p:spPr>
          <a:xfrm>
            <a:off x="8219440" y="5029200"/>
            <a:ext cx="342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Debezium 도입으로 binlog를 감시해 변경 감지·Kafka 발행을 자동화. DB-ES 정합성을 유지하고 이벤트 누락 0건 달성.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5897880"/>
            <a:ext cx="11064240" cy="640080"/>
          </a:xfrm>
          <a:prstGeom prst="rect">
            <a:avLst/>
          </a:prstGeom>
          <a:solidFill>
            <a:srgbClr val="F6F6F6"/>
          </a:solidFill>
          <a:ln/>
        </p:spPr>
        <p:txBody>
          <a:bodyPr/>
          <a:lstStyle/>
          <a:p>
            <a:endParaRPr lang="ko-Kore-KR" altLang="en-US"/>
          </a:p>
        </p:txBody>
      </p:sp>
      <p:sp>
        <p:nvSpPr>
          <p:cNvPr id="25" name="Shape 23"/>
          <p:cNvSpPr/>
          <p:nvPr/>
        </p:nvSpPr>
        <p:spPr>
          <a:xfrm>
            <a:off x="548640" y="5897880"/>
            <a:ext cx="73152" cy="640080"/>
          </a:xfrm>
          <a:prstGeom prst="rect">
            <a:avLst/>
          </a:prstGeom>
          <a:solidFill>
            <a:srgbClr val="1D9E75"/>
          </a:solidFill>
          <a:ln/>
        </p:spPr>
        <p:txBody>
          <a:bodyPr/>
          <a:lstStyle/>
          <a:p>
            <a:endParaRPr lang="ko-Kore-KR" altLang="en-US"/>
          </a:p>
        </p:txBody>
      </p:sp>
      <p:sp>
        <p:nvSpPr>
          <p:cNvPr id="26" name="Text 24"/>
          <p:cNvSpPr/>
          <p:nvPr/>
        </p:nvSpPr>
        <p:spPr>
          <a:xfrm>
            <a:off x="777240" y="58978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Reflection  </a:t>
            </a:r>
            <a:r>
              <a:rPr lang="en-US" sz="1050" dirty="0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제약을 마주칠 때마다 도구나 모델을 바꾸기보다, 구조로 같은 결과를 내고 시스템이 스스로 정합성을 지키도록 설계하는 법을 체득.</a:t>
            </a:r>
            <a:endParaRPr lang="en-US" sz="10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EXPERIENCE 02. POCHA ON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023360" y="566928"/>
            <a:ext cx="7040880" cy="0"/>
          </a:xfrm>
          <a:prstGeom prst="line">
            <a:avLst/>
          </a:prstGeom>
          <a:noFill/>
          <a:ln w="12700">
            <a:solidFill>
              <a:srgbClr val="E8771E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05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822960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3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Pocha On</a:t>
            </a:r>
            <a:r>
              <a:rPr lang="en-US" sz="300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 포차온</a:t>
            </a:r>
            <a:endParaRPr lang="en-US" sz="3000" dirty="0"/>
          </a:p>
        </p:txBody>
      </p:sp>
      <p:sp>
        <p:nvSpPr>
          <p:cNvPr id="6" name="Text 4"/>
          <p:cNvSpPr/>
          <p:nvPr/>
        </p:nvSpPr>
        <p:spPr>
          <a:xfrm>
            <a:off x="566928" y="1481328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포장마차·요식업 매장을 위한 실시간 </a:t>
            </a:r>
            <a:r>
              <a:rPr lang="en-US" sz="1300" dirty="0" err="1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주문·채팅</a:t>
            </a:r>
            <a:r>
              <a:rPr lang="en-US" sz="13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en-US" sz="1300" dirty="0" err="1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플랫폼</a:t>
            </a:r>
            <a:endParaRPr lang="en-US" sz="1300" dirty="0"/>
          </a:p>
        </p:txBody>
      </p:sp>
      <p:sp>
        <p:nvSpPr>
          <p:cNvPr id="7" name="Shape 5"/>
          <p:cNvSpPr/>
          <p:nvPr/>
        </p:nvSpPr>
        <p:spPr>
          <a:xfrm>
            <a:off x="548640" y="2011680"/>
            <a:ext cx="17830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771E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8" name="Text 6"/>
          <p:cNvSpPr/>
          <p:nvPr/>
        </p:nvSpPr>
        <p:spPr>
          <a:xfrm>
            <a:off x="548640" y="2011680"/>
            <a:ext cx="17830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Project Overview</a:t>
            </a:r>
            <a:endParaRPr lang="en-US" sz="1250" dirty="0"/>
          </a:p>
        </p:txBody>
      </p:sp>
      <p:sp>
        <p:nvSpPr>
          <p:cNvPr id="9" name="Text 7"/>
          <p:cNvSpPr/>
          <p:nvPr/>
        </p:nvSpPr>
        <p:spPr>
          <a:xfrm>
            <a:off x="594360" y="2542032"/>
            <a:ext cx="5760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4인  ·  2026.01 - 2026.03  · </a:t>
            </a:r>
            <a:r>
              <a:rPr lang="ko-KR" altLang="en-US" sz="1200" b="1" dirty="0" err="1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프론트엔드</a:t>
            </a:r>
            <a:r>
              <a:rPr lang="ko-KR" altLang="en-US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en-US" altLang="ko-Kore-KR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·</a:t>
            </a:r>
            <a:r>
              <a:rPr lang="en-US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en-US" sz="1200" b="1" dirty="0" err="1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백엔드</a:t>
            </a:r>
            <a:r>
              <a:rPr lang="en-US" altLang="ko-Kore-KR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·</a:t>
            </a:r>
            <a:r>
              <a:rPr lang="ko-KR" altLang="en-US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인프라</a:t>
            </a:r>
            <a:endParaRPr lang="en-US" sz="1200" dirty="0"/>
          </a:p>
        </p:txBody>
      </p:sp>
      <p:sp>
        <p:nvSpPr>
          <p:cNvPr id="10" name="Text 8"/>
          <p:cNvSpPr/>
          <p:nvPr/>
        </p:nvSpPr>
        <p:spPr>
          <a:xfrm>
            <a:off x="594360" y="2926080"/>
            <a:ext cx="5852160" cy="1371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25000"/>
              </a:lnSpc>
              <a:buNone/>
            </a:pPr>
            <a:r>
              <a:rPr lang="en-US" sz="1250" dirty="0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포장마차·요식업 매장을 위한 </a:t>
            </a:r>
            <a:r>
              <a:rPr lang="en-US" sz="125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실시간 주문·채팅 플랫폼</a:t>
            </a:r>
            <a:r>
              <a:rPr lang="en-US" sz="1250" dirty="0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. 주문 채널과 소통 채널을 완전히 분리해 트래픽 도메인을 격리하고 정확성과 자유로움을 동시에 확보. WebSocket 실시간 통신, Kafka 메시지 큐, Redis 캐싱을 갖춘 모놀리식 애플리케이션을 EKS 다중 Pod으로 수평 확장해 구현.</a:t>
            </a:r>
            <a:endParaRPr lang="en-US" sz="1250" dirty="0"/>
          </a:p>
        </p:txBody>
      </p:sp>
      <p:sp>
        <p:nvSpPr>
          <p:cNvPr id="11" name="Shape 9"/>
          <p:cNvSpPr/>
          <p:nvPr/>
        </p:nvSpPr>
        <p:spPr>
          <a:xfrm>
            <a:off x="548640" y="434340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771E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2" name="Text 10"/>
          <p:cNvSpPr/>
          <p:nvPr/>
        </p:nvSpPr>
        <p:spPr>
          <a:xfrm>
            <a:off x="548640" y="434340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Tech Stack</a:t>
            </a:r>
            <a:endParaRPr lang="en-US" sz="1250" dirty="0"/>
          </a:p>
        </p:txBody>
      </p:sp>
      <p:graphicFrame>
        <p:nvGraphicFramePr>
          <p:cNvPr id="13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4892040"/>
          <a:ext cx="5897880" cy="1243584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4805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</a:tblGrid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E8771E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Backend</a:t>
                      </a:r>
                      <a:endParaRPr lang="en-US" sz="10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Java 17, Spring Boot 3, WebSocket(STOMP)</a:t>
                      </a:r>
                      <a:endParaRPr lang="en-US" sz="10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E8771E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Messaging</a:t>
                      </a:r>
                      <a:endParaRPr lang="en-US" sz="10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Kafka, Redis Pub/Sub, SSE</a:t>
                      </a:r>
                      <a:endParaRPr lang="en-US" sz="10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E8771E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Data</a:t>
                      </a:r>
                      <a:endParaRPr lang="en-US" sz="10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MySQL 8, Redis 7</a:t>
                      </a:r>
                      <a:endParaRPr lang="en-US" sz="10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10896">
                <a:tc>
                  <a:txBody>
                    <a:bodyPr/>
                    <a:lstStyle/>
                    <a:p>
                      <a:pPr marL="0" indent="0" algn="ctr">
                        <a:buNone/>
                      </a:pPr>
                      <a:r>
                        <a:rPr lang="en-US" sz="1050" b="1" dirty="0">
                          <a:solidFill>
                            <a:srgbClr val="E8771E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Infra</a:t>
                      </a:r>
                      <a:endParaRPr lang="en-US" sz="10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>
                        <a:buNone/>
                      </a:pPr>
                      <a:r>
                        <a:rPr lang="en-US" sz="1050" dirty="0">
                          <a:solidFill>
                            <a:srgbClr val="333333"/>
                          </a:solidFill>
                          <a:latin typeface="Noto Sans CJK KR" pitchFamily="34" charset="0"/>
                          <a:ea typeface="Noto Sans CJK KR" pitchFamily="34" charset="-122"/>
                          <a:cs typeface="Noto Sans CJK KR" pitchFamily="34" charset="-120"/>
                        </a:rPr>
                        <a:t>Docker, Kubernetes(EKS), nginx Ingress, JMeter</a:t>
                      </a:r>
                      <a:endParaRPr lang="en-US" sz="1050" dirty="0">
                        <a:latin typeface="Noto Sans CJK KR" charset="0"/>
                        <a:ea typeface="Noto Sans CJK KR" charset="0"/>
                        <a:cs typeface="Noto Sans CJK KR" charset="0"/>
                      </a:endParaRPr>
                    </a:p>
                  </a:txBody>
                  <a:tcPr marL="76200" marR="76200" marT="25400" marB="25400" anchor="ctr">
                    <a:lnL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E2E2E2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14" name="Text 11"/>
          <p:cNvSpPr/>
          <p:nvPr/>
        </p:nvSpPr>
        <p:spPr>
          <a:xfrm>
            <a:off x="566928" y="6355080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github : github.com/HwangJwan</a:t>
            </a:r>
            <a:endParaRPr lang="en-US" sz="1000" dirty="0"/>
          </a:p>
        </p:txBody>
      </p:sp>
      <p:sp>
        <p:nvSpPr>
          <p:cNvPr id="15" name="Shape 12"/>
          <p:cNvSpPr/>
          <p:nvPr/>
        </p:nvSpPr>
        <p:spPr>
          <a:xfrm>
            <a:off x="6903720" y="1737360"/>
            <a:ext cx="4709160" cy="4480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2E2E2"/>
            </a:solidFill>
            <a:prstDash val="solid"/>
          </a:ln>
          <a:effectLst>
            <a:outerShdw blurRad="101600" dist="38100" dir="8100000" algn="bl" rotWithShape="0">
              <a:srgbClr val="000000">
                <a:alpha val="8000"/>
              </a:srgbClr>
            </a:outerShdw>
          </a:effectLst>
        </p:spPr>
        <p:txBody>
          <a:bodyPr/>
          <a:lstStyle/>
          <a:p>
            <a:endParaRPr lang="ko-Kore-KR" altLang="en-US"/>
          </a:p>
        </p:txBody>
      </p:sp>
      <p:pic>
        <p:nvPicPr>
          <p:cNvPr id="16" name="Tables Screen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046588" y="1968542"/>
            <a:ext cx="4474464" cy="2009194"/>
          </a:xfrm>
          <a:prstGeom prst="rect">
            <a:avLst/>
          </a:prstGeom>
          <a:ln w="9525">
            <a:solidFill>
              <a:srgbClr val="E2E2E2"/>
            </a:solidFill>
          </a:ln>
        </p:spPr>
      </p:pic>
      <p:sp>
        <p:nvSpPr>
          <p:cNvPr id="30" name="Lbl Order"/>
          <p:cNvSpPr/>
          <p:nvPr/>
        </p:nvSpPr>
        <p:spPr>
          <a:xfrm>
            <a:off x="8287124" y="3997754"/>
            <a:ext cx="1722896" cy="1920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ko-KR" altLang="en-US" sz="1000" b="1" dirty="0">
                <a:solidFill>
                  <a:srgbClr val="E8771E"/>
                </a:solidFill>
                <a:latin typeface="Noto Sans CJK KR" pitchFamily="34" charset="0"/>
              </a:rPr>
              <a:t>점주 대시보드</a:t>
            </a:r>
            <a:endParaRPr lang="en-US" sz="1000" dirty="0"/>
          </a:p>
        </p:txBody>
      </p:sp>
      <p:pic>
        <p:nvPicPr>
          <p:cNvPr id="18" name="Order Screen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290428" y="4203493"/>
            <a:ext cx="1993392" cy="1759393"/>
          </a:xfrm>
          <a:prstGeom prst="rect">
            <a:avLst/>
          </a:prstGeom>
          <a:ln w="9525">
            <a:solidFill>
              <a:srgbClr val="E2E2E2"/>
            </a:solidFill>
          </a:ln>
        </p:spPr>
      </p:pic>
      <p:pic>
        <p:nvPicPr>
          <p:cNvPr id="19" name="Chat Screen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294876" y="4203493"/>
            <a:ext cx="1993392" cy="1759393"/>
          </a:xfrm>
          <a:prstGeom prst="rect">
            <a:avLst/>
          </a:prstGeom>
          <a:ln w="9525">
            <a:solidFill>
              <a:srgbClr val="E2E2E2"/>
            </a:solidFill>
          </a:ln>
        </p:spPr>
      </p:pic>
      <p:sp>
        <p:nvSpPr>
          <p:cNvPr id="32" name="Caption"/>
          <p:cNvSpPr/>
          <p:nvPr/>
        </p:nvSpPr>
        <p:spPr>
          <a:xfrm>
            <a:off x="7159752" y="5972534"/>
            <a:ext cx="4270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WebSocket/STOMP로 점주·고객·채팅 화면 실시간 동기화</a:t>
            </a:r>
            <a:endParaRPr lang="en-US" sz="1000" dirty="0"/>
          </a:p>
        </p:txBody>
      </p:sp>
      <p:sp>
        <p:nvSpPr>
          <p:cNvPr id="17" name="Text 11">
            <a:extLst>
              <a:ext uri="{FF2B5EF4-FFF2-40B4-BE49-F238E27FC236}">
                <a16:creationId xmlns:a16="http://schemas.microsoft.com/office/drawing/2014/main" id="{5D0ACADE-A5BC-2001-8F0C-76E216E9562C}"/>
              </a:ext>
            </a:extLst>
          </p:cNvPr>
          <p:cNvSpPr/>
          <p:nvPr/>
        </p:nvSpPr>
        <p:spPr>
          <a:xfrm>
            <a:off x="1211580" y="2862072"/>
            <a:ext cx="59436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altLang="ko-KR" sz="1000" dirty="0">
                <a:solidFill>
                  <a:srgbClr val="1D9E75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  <a:hlinkClick r:id="rId6"/>
              </a:rPr>
              <a:t> https://github.com/beyond-sw-camp/be23-2nd-team2-Pocha_On-be</a:t>
            </a:r>
            <a:endParaRPr lang="en-US" sz="1000" dirty="0"/>
          </a:p>
        </p:txBody>
      </p:sp>
      <p:sp>
        <p:nvSpPr>
          <p:cNvPr id="20" name="Text 7">
            <a:extLst>
              <a:ext uri="{FF2B5EF4-FFF2-40B4-BE49-F238E27FC236}">
                <a16:creationId xmlns:a16="http://schemas.microsoft.com/office/drawing/2014/main" id="{CC131A57-56EF-A593-F7F3-38EA2E145BDE}"/>
              </a:ext>
            </a:extLst>
          </p:cNvPr>
          <p:cNvSpPr/>
          <p:nvPr/>
        </p:nvSpPr>
        <p:spPr>
          <a:xfrm>
            <a:off x="594360" y="2907792"/>
            <a:ext cx="684767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</a:rPr>
              <a:t>GitHub :</a:t>
            </a:r>
            <a:endParaRPr lang="en-US" sz="12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EXPERIENCE 02. POCHA ON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023360" y="566928"/>
            <a:ext cx="7040880" cy="0"/>
          </a:xfrm>
          <a:prstGeom prst="line">
            <a:avLst/>
          </a:prstGeom>
          <a:noFill/>
          <a:ln w="12700">
            <a:solidFill>
              <a:srgbClr val="E8771E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06</a:t>
            </a:r>
            <a:endParaRPr lang="en-US" sz="1400" dirty="0"/>
          </a:p>
        </p:txBody>
      </p:sp>
      <p:sp>
        <p:nvSpPr>
          <p:cNvPr id="5" name="Shape 3"/>
          <p:cNvSpPr/>
          <p:nvPr/>
        </p:nvSpPr>
        <p:spPr>
          <a:xfrm>
            <a:off x="548640" y="868680"/>
            <a:ext cx="15544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771E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6" name="Text 4"/>
          <p:cNvSpPr/>
          <p:nvPr/>
        </p:nvSpPr>
        <p:spPr>
          <a:xfrm>
            <a:off x="548640" y="868680"/>
            <a:ext cx="15544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My Key Role</a:t>
            </a:r>
            <a:endParaRPr lang="en-US" sz="1250" dirty="0">
              <a:solidFill>
                <a:srgbClr val="E8771E"/>
              </a:solidFill>
            </a:endParaRPr>
          </a:p>
        </p:txBody>
      </p:sp>
      <p:sp>
        <p:nvSpPr>
          <p:cNvPr id="50" name="Role Summary"/>
          <p:cNvSpPr/>
          <p:nvPr/>
        </p:nvSpPr>
        <p:spPr>
          <a:xfrm>
            <a:off x="566928" y="1399032"/>
            <a:ext cx="58521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담당 기능</a:t>
            </a:r>
            <a:r>
              <a:rPr lang="en-US" sz="10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  로그인 · 테이블 간 채팅 · 재고 관리 · 레시피 관리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819656"/>
            <a:ext cx="585216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JWT 3-Stage </a:t>
            </a:r>
            <a:r>
              <a:rPr lang="en-US" sz="1250" b="1" dirty="0" err="1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토큰</a:t>
            </a:r>
            <a:r>
              <a:rPr lang="en-US" sz="125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en-US" sz="1250" b="1" dirty="0" err="1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설계</a:t>
            </a:r>
            <a:endParaRPr lang="en-US" sz="1250" b="1" dirty="0">
              <a:solidFill>
                <a:srgbClr val="111111"/>
              </a:solidFill>
              <a:latin typeface="Noto Sans CJK KR" pitchFamily="34" charset="0"/>
              <a:ea typeface="Noto Sans CJK KR" pitchFamily="34" charset="-122"/>
              <a:cs typeface="Noto Sans CJK KR" pitchFamily="34" charset="-120"/>
            </a:endParaRPr>
          </a:p>
          <a:p>
            <a:pPr marL="0" indent="0">
              <a:lnSpc>
                <a:spcPct val="105000"/>
              </a:lnSpc>
              <a:buNone/>
            </a:pPr>
            <a:endParaRPr lang="en-US" sz="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매장·테이블 진입마다 권한이 달라지는 비회원 주문을 위해 BASE→STORE→TABLE 단계별 토큰 재발급·이전 폐기. AT/RT 시크릿 분리 + Redis 화이트리스트로 탈취 토큰 즉시 무효화.</a:t>
            </a:r>
            <a:endParaRPr lang="en-US" sz="1400" dirty="0"/>
          </a:p>
        </p:txBody>
      </p:sp>
      <p:sp>
        <p:nvSpPr>
          <p:cNvPr id="8" name="Text 6"/>
          <p:cNvSpPr/>
          <p:nvPr/>
        </p:nvSpPr>
        <p:spPr>
          <a:xfrm>
            <a:off x="566928" y="2669656"/>
            <a:ext cx="585216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테이블 이동·합치기 (MOVE / MERGE)</a:t>
            </a:r>
          </a:p>
          <a:p>
            <a:pPr marL="0" indent="0">
              <a:lnSpc>
                <a:spcPct val="105000"/>
              </a:lnSpc>
              <a:buNone/>
            </a:pPr>
            <a:endParaRPr lang="en-US" sz="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두 테이블을 비관적 락으로 동시 조회해 충돌 차단, 주문 일괄 이전·groupId 이관을 원자적으로 처리. 새 JWT 재발급 + Kafka→WebSocket으로 점주·주방·테이블 화면을 실시간 동기화, 30초 플래그로 비정상 롤백 차단.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566928" y="3519656"/>
            <a:ext cx="585216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실시간 채팅 (WebSocket / STOMP)</a:t>
            </a:r>
          </a:p>
          <a:p>
            <a:pPr marL="0" indent="0">
              <a:lnSpc>
                <a:spcPct val="105000"/>
              </a:lnSpc>
              <a:buNone/>
            </a:pPr>
            <a:endParaRPr lang="en-US" sz="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5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WebSocket/STOMP 기반으로 테이블 간 실시간 메시지 송수신을 구현. 매장·테이블 단위 토픽(/topic/...)으로 구독을 분리해 주문·호출·채팅이 해당 대상에게만 전달되도록 설계.</a:t>
            </a:r>
            <a:endParaRPr lang="en-US" sz="1250" dirty="0"/>
          </a:p>
        </p:txBody>
      </p:sp>
      <p:sp>
        <p:nvSpPr>
          <p:cNvPr id="51" name="Perf HikariCP"/>
          <p:cNvSpPr/>
          <p:nvPr/>
        </p:nvSpPr>
        <p:spPr>
          <a:xfrm>
            <a:off x="548640" y="4369656"/>
            <a:ext cx="585216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08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커넥션 </a:t>
            </a:r>
            <a:r>
              <a:rPr lang="en-US" sz="1250" b="1" dirty="0" err="1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풀</a:t>
            </a:r>
            <a:r>
              <a:rPr lang="en-US" sz="125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en-US" sz="1250" b="1" dirty="0" err="1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튜닝</a:t>
            </a:r>
            <a:endParaRPr lang="en-US" sz="1250" b="1" dirty="0">
              <a:solidFill>
                <a:srgbClr val="111111"/>
              </a:solidFill>
              <a:latin typeface="Noto Sans CJK KR" pitchFamily="34" charset="0"/>
              <a:ea typeface="Noto Sans CJK KR" pitchFamily="34" charset="-122"/>
              <a:cs typeface="Noto Sans CJK KR" pitchFamily="34" charset="-120"/>
            </a:endParaRPr>
          </a:p>
          <a:p>
            <a:pPr marL="0" indent="0">
              <a:lnSpc>
                <a:spcPct val="108000"/>
              </a:lnSpc>
              <a:buNone/>
            </a:pPr>
            <a:endParaRPr lang="en-US" sz="500" dirty="0"/>
          </a:p>
          <a:p>
            <a:pPr marL="0" indent="0">
              <a:lnSpc>
                <a:spcPct val="108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커넥션 부족으로 스레드가 대기·타임아웃되던 문제를 HikariCP pool-size 2→10으로 해소. 100건 동시 주문 에러율 79%→0% · TPS 23.3→27.7.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5119656"/>
            <a:ext cx="5852160" cy="5200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05000"/>
              </a:lnSpc>
              <a:buNone/>
            </a:pPr>
            <a:r>
              <a:rPr lang="en-US" sz="125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재고 정합성 100%</a:t>
            </a:r>
          </a:p>
          <a:p>
            <a:pPr marL="0" indent="0">
              <a:lnSpc>
                <a:spcPct val="105000"/>
              </a:lnSpc>
              <a:buNone/>
            </a:pPr>
            <a:endParaRPr lang="en-US" sz="500" dirty="0"/>
          </a:p>
          <a:p>
            <a:pPr marL="0" indent="0">
              <a:lnSpc>
                <a:spcPct val="105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락 없이 100건 동시 차감 시 284% 초과 차감·서버 CRASH → 비관적 락 적용 후 에러율 75%→0%, 오차 0% · 정합성 100%.</a:t>
            </a:r>
            <a:endParaRPr lang="en-US" sz="1250" dirty="0"/>
          </a:p>
        </p:txBody>
      </p:sp>
      <p:sp>
        <p:nvSpPr>
          <p:cNvPr id="15" name="Shape 13"/>
          <p:cNvSpPr/>
          <p:nvPr/>
        </p:nvSpPr>
        <p:spPr>
          <a:xfrm>
            <a:off x="6355080" y="868680"/>
            <a:ext cx="256032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771E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6" name="Text 14"/>
          <p:cNvSpPr/>
          <p:nvPr/>
        </p:nvSpPr>
        <p:spPr>
          <a:xfrm>
            <a:off x="6355080" y="868680"/>
            <a:ext cx="25603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Deployment Architecture</a:t>
            </a:r>
            <a:endParaRPr lang="en-US" sz="1250" dirty="0"/>
          </a:p>
        </p:txBody>
      </p:sp>
      <p:sp>
        <p:nvSpPr>
          <p:cNvPr id="17" name="Shape 15"/>
          <p:cNvSpPr/>
          <p:nvPr/>
        </p:nvSpPr>
        <p:spPr>
          <a:xfrm>
            <a:off x="6766560" y="1463040"/>
            <a:ext cx="4846320" cy="4754880"/>
          </a:xfrm>
          <a:prstGeom prst="rect">
            <a:avLst/>
          </a:prstGeom>
          <a:solidFill>
            <a:srgbClr val="FAFAFA"/>
          </a:solidFill>
          <a:ln w="12700">
            <a:solidFill>
              <a:srgbClr val="E2E2E2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8" name="Text 16"/>
          <p:cNvSpPr/>
          <p:nvPr/>
        </p:nvSpPr>
        <p:spPr>
          <a:xfrm>
            <a:off x="6766560" y="1600200"/>
            <a:ext cx="48463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Kafka 토픽 구독 및 WS 메시지 전달 구조</a:t>
            </a:r>
            <a:endParaRPr lang="en-US" sz="1200" dirty="0"/>
          </a:p>
        </p:txBody>
      </p:sp>
      <p:sp>
        <p:nvSpPr>
          <p:cNvPr id="19" name="Shape 17"/>
          <p:cNvSpPr/>
          <p:nvPr/>
        </p:nvSpPr>
        <p:spPr>
          <a:xfrm>
            <a:off x="8412480" y="2103120"/>
            <a:ext cx="15544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0" name="Text 18"/>
          <p:cNvSpPr/>
          <p:nvPr/>
        </p:nvSpPr>
        <p:spPr>
          <a:xfrm>
            <a:off x="8275320" y="2103120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Client (WS)</a:t>
            </a:r>
            <a:endParaRPr lang="en-US" sz="1000" dirty="0"/>
          </a:p>
        </p:txBody>
      </p:sp>
      <p:sp>
        <p:nvSpPr>
          <p:cNvPr id="21" name="Shape 19"/>
          <p:cNvSpPr/>
          <p:nvPr/>
        </p:nvSpPr>
        <p:spPr>
          <a:xfrm>
            <a:off x="9189720" y="2615184"/>
            <a:ext cx="0" cy="219456"/>
          </a:xfrm>
          <a:prstGeom prst="line">
            <a:avLst/>
          </a:prstGeom>
          <a:noFill/>
          <a:ln w="19050">
            <a:solidFill>
              <a:srgbClr val="E8771E"/>
            </a:solidFill>
            <a:prstDash val="solid"/>
            <a:tailEnd type="triangle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2" name="Shape 20"/>
          <p:cNvSpPr/>
          <p:nvPr/>
        </p:nvSpPr>
        <p:spPr>
          <a:xfrm>
            <a:off x="8412480" y="2834640"/>
            <a:ext cx="15544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3" name="Text 21"/>
          <p:cNvSpPr/>
          <p:nvPr/>
        </p:nvSpPr>
        <p:spPr>
          <a:xfrm>
            <a:off x="8275320" y="2834640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nginx Ingress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9189720" y="3346704"/>
            <a:ext cx="0" cy="219456"/>
          </a:xfrm>
          <a:prstGeom prst="line">
            <a:avLst/>
          </a:prstGeom>
          <a:noFill/>
          <a:ln w="19050">
            <a:solidFill>
              <a:srgbClr val="E8771E"/>
            </a:solidFill>
            <a:prstDash val="solid"/>
            <a:tailEnd type="triangle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5" name="Shape 23"/>
          <p:cNvSpPr/>
          <p:nvPr/>
        </p:nvSpPr>
        <p:spPr>
          <a:xfrm>
            <a:off x="8412480" y="3566160"/>
            <a:ext cx="1554480" cy="685800"/>
          </a:xfrm>
          <a:prstGeom prst="roundRect">
            <a:avLst>
              <a:gd name="adj" fmla="val 10714"/>
            </a:avLst>
          </a:prstGeom>
          <a:solidFill>
            <a:srgbClr val="E8771E"/>
          </a:solidFill>
          <a:ln w="12700">
            <a:solidFill>
              <a:srgbClr val="E8771E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6" name="Text 24"/>
          <p:cNvSpPr/>
          <p:nvPr/>
        </p:nvSpPr>
        <p:spPr>
          <a:xfrm>
            <a:off x="8275320" y="3566160"/>
            <a:ext cx="18288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Spring App ×3</a:t>
            </a:r>
            <a:endParaRPr lang="en-US" sz="1000" dirty="0"/>
          </a:p>
          <a:p>
            <a:pPr marL="0" indent="0" algn="ctr">
              <a:lnSpc>
                <a:spcPct val="118000"/>
              </a:lnSpc>
              <a:spcBef>
                <a:spcPts val="300"/>
              </a:spcBef>
              <a:buNone/>
            </a:pPr>
            <a:r>
              <a:rPr lang="en-US" sz="800" dirty="0">
                <a:solidFill>
                  <a:srgbClr val="FCE3C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동일 인스턴스 복제본</a:t>
            </a:r>
            <a:endParaRPr lang="en-US" sz="800" dirty="0"/>
          </a:p>
        </p:txBody>
      </p:sp>
      <p:sp>
        <p:nvSpPr>
          <p:cNvPr id="27" name="Shape 25"/>
          <p:cNvSpPr/>
          <p:nvPr/>
        </p:nvSpPr>
        <p:spPr>
          <a:xfrm>
            <a:off x="9189720" y="4251960"/>
            <a:ext cx="0" cy="219456"/>
          </a:xfrm>
          <a:prstGeom prst="line">
            <a:avLst/>
          </a:prstGeom>
          <a:noFill/>
          <a:ln w="19050">
            <a:solidFill>
              <a:srgbClr val="E8771E"/>
            </a:solidFill>
            <a:prstDash val="solid"/>
            <a:tailEnd type="triangle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8" name="Shape 26"/>
          <p:cNvSpPr/>
          <p:nvPr/>
        </p:nvSpPr>
        <p:spPr>
          <a:xfrm>
            <a:off x="8412480" y="4471416"/>
            <a:ext cx="1554480" cy="512064"/>
          </a:xfrm>
          <a:prstGeom prst="roundRect">
            <a:avLst>
              <a:gd name="adj" fmla="val 10714"/>
            </a:avLst>
          </a:prstGeom>
          <a:solidFill>
            <a:srgbClr val="FFFFFF"/>
          </a:solidFill>
          <a:ln w="12700">
            <a:solidFill>
              <a:srgbClr val="CFCFCF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29" name="Text 27"/>
          <p:cNvSpPr/>
          <p:nvPr/>
        </p:nvSpPr>
        <p:spPr>
          <a:xfrm>
            <a:off x="8275320" y="447141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Kafka Topic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9189720" y="4983480"/>
            <a:ext cx="0" cy="219456"/>
          </a:xfrm>
          <a:prstGeom prst="line">
            <a:avLst/>
          </a:prstGeom>
          <a:noFill/>
          <a:ln w="19050">
            <a:solidFill>
              <a:srgbClr val="E8771E"/>
            </a:solidFill>
            <a:prstDash val="solid"/>
            <a:tailEnd type="triangle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1" name="Shape 29"/>
          <p:cNvSpPr/>
          <p:nvPr/>
        </p:nvSpPr>
        <p:spPr>
          <a:xfrm>
            <a:off x="8412480" y="5202936"/>
            <a:ext cx="1554480" cy="512064"/>
          </a:xfrm>
          <a:prstGeom prst="roundRect">
            <a:avLst>
              <a:gd name="adj" fmla="val 10714"/>
            </a:avLst>
          </a:prstGeom>
          <a:solidFill>
            <a:srgbClr val="E8771E"/>
          </a:solidFill>
          <a:ln w="12700">
            <a:solidFill>
              <a:srgbClr val="E8771E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32" name="Text 30"/>
          <p:cNvSpPr/>
          <p:nvPr/>
        </p:nvSpPr>
        <p:spPr>
          <a:xfrm>
            <a:off x="8275320" y="5202936"/>
            <a:ext cx="1828800" cy="51206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000" b="1" dirty="0">
                <a:solidFill>
                  <a:srgbClr val="FFFFFF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Redis · MySQL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903720" y="5943600"/>
            <a:ext cx="45720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i="1" dirty="0">
                <a:solidFill>
                  <a:srgbClr val="9A9A9A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* 다중 Pod fan-out + 도메인별 브로커 분리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384048"/>
            <a:ext cx="56692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kern="0" spc="100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EXPERIENCE 02. POCHA ON</a:t>
            </a:r>
            <a:endParaRPr lang="en-US" sz="1400" dirty="0"/>
          </a:p>
        </p:txBody>
      </p:sp>
      <p:sp>
        <p:nvSpPr>
          <p:cNvPr id="3" name="Shape 1"/>
          <p:cNvSpPr/>
          <p:nvPr/>
        </p:nvSpPr>
        <p:spPr>
          <a:xfrm>
            <a:off x="4023360" y="566928"/>
            <a:ext cx="7040880" cy="0"/>
          </a:xfrm>
          <a:prstGeom prst="line">
            <a:avLst/>
          </a:prstGeom>
          <a:noFill/>
          <a:ln w="12700">
            <a:solidFill>
              <a:srgbClr val="E8771E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4" name="Text 2"/>
          <p:cNvSpPr/>
          <p:nvPr/>
        </p:nvSpPr>
        <p:spPr>
          <a:xfrm>
            <a:off x="11155680" y="384048"/>
            <a:ext cx="54864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r">
              <a:buNone/>
            </a:pPr>
            <a:r>
              <a:rPr lang="en-US" sz="140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07</a:t>
            </a:r>
            <a:endParaRPr lang="en-US" sz="1400" dirty="0"/>
          </a:p>
        </p:txBody>
      </p:sp>
      <p:sp>
        <p:nvSpPr>
          <p:cNvPr id="5" name="Text 3"/>
          <p:cNvSpPr/>
          <p:nvPr/>
        </p:nvSpPr>
        <p:spPr>
          <a:xfrm>
            <a:off x="548640" y="868680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6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TroubleShooting</a:t>
            </a:r>
            <a:endParaRPr lang="en-US" sz="2600" dirty="0"/>
          </a:p>
        </p:txBody>
      </p:sp>
      <p:sp>
        <p:nvSpPr>
          <p:cNvPr id="6" name="Shape 4"/>
          <p:cNvSpPr/>
          <p:nvPr/>
        </p:nvSpPr>
        <p:spPr>
          <a:xfrm>
            <a:off x="548640" y="150876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771E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7" name="Text 5"/>
          <p:cNvSpPr/>
          <p:nvPr/>
        </p:nvSpPr>
        <p:spPr>
          <a:xfrm>
            <a:off x="548640" y="150876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Case 01</a:t>
            </a:r>
            <a:endParaRPr lang="en-US" sz="1250" dirty="0"/>
          </a:p>
        </p:txBody>
      </p:sp>
      <p:sp>
        <p:nvSpPr>
          <p:cNvPr id="8" name="Text 6"/>
          <p:cNvSpPr/>
          <p:nvPr/>
        </p:nvSpPr>
        <p:spPr>
          <a:xfrm>
            <a:off x="548640" y="1996440"/>
            <a:ext cx="342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재고 차감 동시성 (Race Condition)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48640" y="2468880"/>
            <a:ext cx="342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Problem</a:t>
            </a:r>
            <a:endParaRPr lang="en-US" sz="1150" dirty="0"/>
          </a:p>
        </p:txBody>
      </p:sp>
      <p:sp>
        <p:nvSpPr>
          <p:cNvPr id="10" name="Text 8"/>
          <p:cNvSpPr/>
          <p:nvPr/>
        </p:nvSpPr>
        <p:spPr>
          <a:xfrm>
            <a:off x="548640" y="2743200"/>
            <a:ext cx="342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동시 주문 100건 차감 시 에러율 75%, 실제 차감량이 정상의 284%를 초과하는 중복 차감 발생.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548640" y="3611880"/>
            <a:ext cx="342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Analysis</a:t>
            </a:r>
            <a:endParaRPr lang="en-US" sz="1150" dirty="0"/>
          </a:p>
        </p:txBody>
      </p:sp>
      <p:sp>
        <p:nvSpPr>
          <p:cNvPr id="12" name="Text 10"/>
          <p:cNvSpPr/>
          <p:nvPr/>
        </p:nvSpPr>
        <p:spPr>
          <a:xfrm>
            <a:off x="548640" y="3886200"/>
            <a:ext cx="342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단일 방어로는 다중 Pod 환경의 동시 접근을 못 막았고, 락·메시지 큐·DB 커넥션 풀까지 단계별 병목을 확인.</a:t>
            </a:r>
            <a:endParaRPr lang="en-US" sz="1000" dirty="0"/>
          </a:p>
        </p:txBody>
      </p:sp>
      <p:sp>
        <p:nvSpPr>
          <p:cNvPr id="13" name="Text 11"/>
          <p:cNvSpPr/>
          <p:nvPr/>
        </p:nvSpPr>
        <p:spPr>
          <a:xfrm>
            <a:off x="548640" y="4754880"/>
            <a:ext cx="342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Solution &amp; Result</a:t>
            </a:r>
            <a:endParaRPr lang="en-US" sz="1150" dirty="0"/>
          </a:p>
        </p:txBody>
      </p:sp>
      <p:sp>
        <p:nvSpPr>
          <p:cNvPr id="14" name="Text 12"/>
          <p:cNvSpPr/>
          <p:nvPr/>
        </p:nvSpPr>
        <p:spPr>
          <a:xfrm>
            <a:off x="548640" y="5029200"/>
            <a:ext cx="342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Redis 멱등성 키 + Kafka concurrency=1 직렬화 + 비관적 락 3중 방어 적용, 에러율 75%→0% · 재고 정합성 100% 달성.</a:t>
            </a:r>
            <a:endParaRPr lang="en-US" sz="1000" dirty="0"/>
          </a:p>
        </p:txBody>
      </p:sp>
      <p:sp>
        <p:nvSpPr>
          <p:cNvPr id="15" name="Shape 13"/>
          <p:cNvSpPr/>
          <p:nvPr/>
        </p:nvSpPr>
        <p:spPr>
          <a:xfrm>
            <a:off x="4384040" y="150876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771E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16" name="Text 14"/>
          <p:cNvSpPr/>
          <p:nvPr/>
        </p:nvSpPr>
        <p:spPr>
          <a:xfrm>
            <a:off x="4384040" y="150876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25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Case 02</a:t>
            </a:r>
            <a:endParaRPr lang="en-US" sz="1250" dirty="0"/>
          </a:p>
        </p:txBody>
      </p:sp>
      <p:sp>
        <p:nvSpPr>
          <p:cNvPr id="17" name="Text 15"/>
          <p:cNvSpPr/>
          <p:nvPr/>
        </p:nvSpPr>
        <p:spPr>
          <a:xfrm>
            <a:off x="4384040" y="1996440"/>
            <a:ext cx="342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분산 Pod STOMP 메시지 유실</a:t>
            </a:r>
            <a:endParaRPr lang="en-US" sz="1300" dirty="0"/>
          </a:p>
        </p:txBody>
      </p:sp>
      <p:sp>
        <p:nvSpPr>
          <p:cNvPr id="18" name="Text 16"/>
          <p:cNvSpPr/>
          <p:nvPr/>
        </p:nvSpPr>
        <p:spPr>
          <a:xfrm>
            <a:off x="4384040" y="2468880"/>
            <a:ext cx="342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Problem</a:t>
            </a:r>
            <a:endParaRPr lang="en-US" sz="1150" dirty="0"/>
          </a:p>
        </p:txBody>
      </p:sp>
      <p:sp>
        <p:nvSpPr>
          <p:cNvPr id="19" name="Text 17"/>
          <p:cNvSpPr/>
          <p:nvPr/>
        </p:nvSpPr>
        <p:spPr>
          <a:xfrm>
            <a:off x="4384040" y="2743200"/>
            <a:ext cx="342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SimpleBroker In-Memory 방식은 Pod 간 fan-out이 안 돼, 특정 Pod 사용자가 다른 Pod의 메시지를 수신하지 못함.</a:t>
            </a:r>
            <a:endParaRPr lang="en-US" sz="1000" dirty="0"/>
          </a:p>
        </p:txBody>
      </p:sp>
      <p:sp>
        <p:nvSpPr>
          <p:cNvPr id="20" name="Text 18"/>
          <p:cNvSpPr/>
          <p:nvPr/>
        </p:nvSpPr>
        <p:spPr>
          <a:xfrm>
            <a:off x="4384040" y="3611880"/>
            <a:ext cx="342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Analysis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4384040" y="3886200"/>
            <a:ext cx="342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STOMP 세션이 서버 메모리에 묶여 인스턴스 간 공유되지 않는 구조적 한계임을 파악.</a:t>
            </a:r>
            <a:endParaRPr lang="en-US" sz="1000" dirty="0"/>
          </a:p>
        </p:txBody>
      </p:sp>
      <p:sp>
        <p:nvSpPr>
          <p:cNvPr id="22" name="Text 20"/>
          <p:cNvSpPr/>
          <p:nvPr/>
        </p:nvSpPr>
        <p:spPr>
          <a:xfrm>
            <a:off x="4384040" y="4754880"/>
            <a:ext cx="342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Solution &amp; Result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4384040" y="5029200"/>
            <a:ext cx="342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18000"/>
              </a:lnSpc>
              <a:buNone/>
            </a:pPr>
            <a:r>
              <a:rPr lang="en-US" sz="1000" dirty="0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모든 Pod이 Kafka Consumer로 수신 후 각자 STOMP 세션에 fan-out하도록 설계, Pod 간 메시지 유실을 </a:t>
            </a:r>
            <a:r>
              <a:rPr lang="en-US" sz="1000" dirty="0" err="1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구조적으로</a:t>
            </a:r>
            <a:r>
              <a:rPr lang="en-US" sz="1000" dirty="0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 </a:t>
            </a:r>
            <a:r>
              <a:rPr lang="en-US" sz="1000" dirty="0" err="1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해결</a:t>
            </a:r>
            <a:r>
              <a:rPr lang="en-US" altLang="ko-KR" sz="1000" dirty="0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.</a:t>
            </a:r>
            <a:endParaRPr lang="en-US" sz="1000" dirty="0"/>
          </a:p>
        </p:txBody>
      </p:sp>
      <p:sp>
        <p:nvSpPr>
          <p:cNvPr id="40" name="Case03 Badge"/>
          <p:cNvSpPr/>
          <p:nvPr/>
        </p:nvSpPr>
        <p:spPr>
          <a:xfrm>
            <a:off x="8219440" y="1508760"/>
            <a:ext cx="1325880" cy="384048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5875">
            <a:solidFill>
              <a:srgbClr val="E8771E"/>
            </a:solidFill>
            <a:prstDash val="solid"/>
          </a:ln>
        </p:spPr>
        <p:txBody>
          <a:bodyPr/>
          <a:lstStyle/>
          <a:p>
            <a:endParaRPr lang="ko-Kore-KR" altLang="en-US"/>
          </a:p>
        </p:txBody>
      </p:sp>
      <p:sp>
        <p:nvSpPr>
          <p:cNvPr id="41" name="Case03 BadgeText"/>
          <p:cNvSpPr/>
          <p:nvPr/>
        </p:nvSpPr>
        <p:spPr>
          <a:xfrm>
            <a:off x="8219440" y="1508760"/>
            <a:ext cx="132588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5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Case 03</a:t>
            </a:r>
            <a:endParaRPr lang="en-US" sz="1150" dirty="0"/>
          </a:p>
        </p:txBody>
      </p:sp>
      <p:sp>
        <p:nvSpPr>
          <p:cNvPr id="42" name="Case03 Title"/>
          <p:cNvSpPr/>
          <p:nvPr/>
        </p:nvSpPr>
        <p:spPr>
          <a:xfrm>
            <a:off x="8219440" y="1996440"/>
            <a:ext cx="342392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11111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Cascade 연관관계 정합성</a:t>
            </a:r>
            <a:endParaRPr lang="en-US" sz="1300" dirty="0"/>
          </a:p>
        </p:txBody>
      </p:sp>
      <p:sp>
        <p:nvSpPr>
          <p:cNvPr id="43" name="C3 PL"/>
          <p:cNvSpPr/>
          <p:nvPr/>
        </p:nvSpPr>
        <p:spPr>
          <a:xfrm>
            <a:off x="8219440" y="2468880"/>
            <a:ext cx="342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Problem</a:t>
            </a:r>
            <a:endParaRPr lang="en-US" sz="1150" dirty="0"/>
          </a:p>
        </p:txBody>
      </p:sp>
      <p:sp>
        <p:nvSpPr>
          <p:cNvPr id="44" name="C3 PB"/>
          <p:cNvSpPr/>
          <p:nvPr/>
        </p:nvSpPr>
        <p:spPr>
          <a:xfrm>
            <a:off x="8219440" y="2743200"/>
            <a:ext cx="342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식자재 삭제 시 레시피(메뉴·옵션)에 연결돼 있으면 FK 제약 위반으로 실패. CascadeType.ALL만 걸면 의도치 않은 범위까지 삭제되는 위험도 존재.</a:t>
            </a:r>
            <a:endParaRPr lang="en-US" sz="1000" dirty="0"/>
          </a:p>
        </p:txBody>
      </p:sp>
      <p:sp>
        <p:nvSpPr>
          <p:cNvPr id="45" name="C3 AL"/>
          <p:cNvSpPr/>
          <p:nvPr/>
        </p:nvSpPr>
        <p:spPr>
          <a:xfrm>
            <a:off x="8219440" y="3611880"/>
            <a:ext cx="342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Analysis</a:t>
            </a:r>
            <a:endParaRPr lang="en-US" sz="1150" dirty="0"/>
          </a:p>
        </p:txBody>
      </p:sp>
      <p:sp>
        <p:nvSpPr>
          <p:cNvPr id="46" name="C3 AB"/>
          <p:cNvSpPr/>
          <p:nvPr/>
        </p:nvSpPr>
        <p:spPr>
          <a:xfrm>
            <a:off x="8219440" y="3886200"/>
            <a:ext cx="342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입고 배치·메뉴 레시피는 Cascade로 삭제되지만, 옵션 레시피(IngredientMenuOptionDetail)는 별도 엔티티라 Cascade 대상에서 누락 → 삭제 순서 미보장 시 FK 위반.</a:t>
            </a:r>
            <a:endParaRPr lang="en-US" sz="1000" dirty="0"/>
          </a:p>
        </p:txBody>
      </p:sp>
      <p:sp>
        <p:nvSpPr>
          <p:cNvPr id="47" name="C3 SL"/>
          <p:cNvSpPr/>
          <p:nvPr/>
        </p:nvSpPr>
        <p:spPr>
          <a:xfrm>
            <a:off x="8219440" y="4754880"/>
            <a:ext cx="3423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5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Solution &amp; Result</a:t>
            </a:r>
            <a:endParaRPr lang="en-US" sz="1150" dirty="0"/>
          </a:p>
        </p:txBody>
      </p:sp>
      <p:sp>
        <p:nvSpPr>
          <p:cNvPr id="48" name="C3 SB"/>
          <p:cNvSpPr/>
          <p:nvPr/>
        </p:nvSpPr>
        <p:spPr>
          <a:xfrm>
            <a:off x="8219440" y="5029200"/>
            <a:ext cx="342392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>
              <a:lnSpc>
                <a:spcPct val="120000"/>
              </a:lnSpc>
              <a:buNone/>
            </a:pPr>
            <a:r>
              <a:rPr lang="en-US" sz="1000" dirty="0">
                <a:solidFill>
                  <a:srgbClr val="6B6B6B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Cascade + 수동 삭제 2단계 전략: ① Cascade 밖 옵션 레시피를 먼저 수동 삭제해 FK 참조 제거 ② Ingredient 삭제 시 입고 배치·메뉴 레시피 자동 정리. 순서 보장으로 FK 위반 없이 일괄 삭제.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548640" y="5897880"/>
            <a:ext cx="11064240" cy="640080"/>
          </a:xfrm>
          <a:prstGeom prst="rect">
            <a:avLst/>
          </a:prstGeom>
          <a:solidFill>
            <a:srgbClr val="F6F6F6"/>
          </a:solidFill>
          <a:ln/>
        </p:spPr>
        <p:txBody>
          <a:bodyPr/>
          <a:lstStyle/>
          <a:p>
            <a:endParaRPr lang="ko-Kore-KR" altLang="en-US"/>
          </a:p>
        </p:txBody>
      </p:sp>
      <p:sp>
        <p:nvSpPr>
          <p:cNvPr id="25" name="Shape 23"/>
          <p:cNvSpPr/>
          <p:nvPr/>
        </p:nvSpPr>
        <p:spPr>
          <a:xfrm>
            <a:off x="548640" y="5897880"/>
            <a:ext cx="73152" cy="640080"/>
          </a:xfrm>
          <a:prstGeom prst="rect">
            <a:avLst/>
          </a:prstGeom>
          <a:solidFill>
            <a:srgbClr val="E8771E"/>
          </a:solidFill>
          <a:ln/>
        </p:spPr>
        <p:txBody>
          <a:bodyPr/>
          <a:lstStyle/>
          <a:p>
            <a:endParaRPr lang="ko-Kore-KR" altLang="en-US"/>
          </a:p>
        </p:txBody>
      </p:sp>
      <p:sp>
        <p:nvSpPr>
          <p:cNvPr id="26" name="Text 24"/>
          <p:cNvSpPr/>
          <p:nvPr/>
        </p:nvSpPr>
        <p:spPr>
          <a:xfrm>
            <a:off x="777240" y="5897880"/>
            <a:ext cx="1069848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lnSpc>
                <a:spcPct val="110000"/>
              </a:lnSpc>
              <a:buNone/>
            </a:pPr>
            <a:r>
              <a:rPr lang="en-US" sz="1050" b="1" dirty="0">
                <a:solidFill>
                  <a:srgbClr val="E8771E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Reflection  </a:t>
            </a:r>
            <a:r>
              <a:rPr lang="en-US" sz="1050" dirty="0">
                <a:solidFill>
                  <a:srgbClr val="404040"/>
                </a:solidFill>
                <a:latin typeface="Noto Sans CJK KR" pitchFamily="34" charset="0"/>
                <a:ea typeface="Noto Sans CJK KR" pitchFamily="34" charset="-122"/>
                <a:cs typeface="Noto Sans CJK KR" pitchFamily="34" charset="-120"/>
              </a:rPr>
              <a:t>동시성·분산 환경의 메시지 전파·연관 데이터 정합성까지, 단순 해결을 넘어 데이터 무결성과 시스템 안정성을 함께 고려하는 설계의 중요성을 체득.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10503</TotalTime>
  <Words>1573</Words>
  <Application>Microsoft Macintosh PowerPoint</Application>
  <PresentationFormat>와이드스크린</PresentationFormat>
  <Paragraphs>213</Paragraphs>
  <Slides>9</Slides>
  <Notes>8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9</vt:i4>
      </vt:variant>
    </vt:vector>
  </HeadingPairs>
  <TitlesOfParts>
    <vt:vector size="12" baseType="lpstr">
      <vt:lpstr>Noto Sans CJK KR</vt:lpstr>
      <vt:lpstr>Arial</vt:lpstr>
      <vt:lpstr>Office Theme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  <vt:lpstr>PowerPoint 프레젠테이션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황주완 백엔드 개발자 포트폴리오</dc:title>
  <dc:subject>PptxGenJS Presentation</dc:subject>
  <dc:creator>황주완</dc:creator>
  <cp:lastModifiedBy>주완 황</cp:lastModifiedBy>
  <cp:revision>4</cp:revision>
  <dcterms:created xsi:type="dcterms:W3CDTF">2026-06-02T23:27:45Z</dcterms:created>
  <dcterms:modified xsi:type="dcterms:W3CDTF">2026-07-02T18:19:48Z</dcterms:modified>
</cp:coreProperties>
</file>