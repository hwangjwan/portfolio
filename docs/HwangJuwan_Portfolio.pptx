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embeddedFontLst>
    <p:embeddedFont>
      <p:font typeface="No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k3FkxYYXW2JDIRhqIhryouDcT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A214C0-9A1B-4588-882F-F82198B0C34E}">
  <a:tblStyle styleId="{C2A214C0-9A1B-4588-882F-F82198B0C3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-regular.fntdata"/><Relationship Id="rId14" Type="http://schemas.openxmlformats.org/officeDocument/2006/relationships/slide" Target="slides/slide9.xml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beyond-sw-camp/be23-fin-2team-PeopleCore-be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github.com/beyond-sw-camp/be23-2nd-team2-Pocha_On-b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68680" y="1051560"/>
            <a:ext cx="196596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68680" y="10515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Backend Engineer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155448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800"/>
              <a:buFont typeface="Noto Sans"/>
              <a:buNone/>
            </a:pPr>
            <a:r>
              <a:rPr b="1" lang="en-US" sz="78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269748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7800"/>
              <a:buFont typeface="Noto Sans"/>
              <a:buNone/>
            </a:pPr>
            <a:r>
              <a:rPr b="1" i="1" lang="en-US" sz="78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DRIVEN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84048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800"/>
              <a:buFont typeface="Noto Sans"/>
              <a:buNone/>
            </a:pPr>
            <a:r>
              <a:rPr b="1" lang="en-US" sz="78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BACKEND.</a:t>
            </a:r>
            <a:endParaRPr sz="7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68680" y="5212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Noto Sans"/>
              <a:buNone/>
            </a:pPr>
            <a:r>
              <a:rPr lang="en-US" sz="15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하나의 문제 앞에서 여러 대안을 비교하고, 근거 위에서 판단하는 </a:t>
            </a:r>
            <a:r>
              <a:rPr b="1" lang="en-US" sz="15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백엔드 개발자 황주완</a:t>
            </a:r>
            <a:r>
              <a:rPr lang="en-US" sz="15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입니다.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9A9A9A"/>
                </a:solidFill>
                <a:latin typeface="Noto Sans"/>
                <a:ea typeface="Noto Sans"/>
                <a:cs typeface="Noto Sans"/>
                <a:sym typeface="Noto Sans"/>
              </a:rPr>
              <a:t>blog : 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juwan7056@naver.com</a:t>
            </a:r>
            <a:r>
              <a:rPr lang="en-US" sz="1200">
                <a:solidFill>
                  <a:srgbClr val="9A9A9A"/>
                </a:solidFill>
                <a:latin typeface="Noto Sans"/>
                <a:ea typeface="Noto Sans"/>
                <a:cs typeface="Noto Sans"/>
                <a:sym typeface="Noto Sans"/>
              </a:rPr>
              <a:t>    ·    github : 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github.com/HwangJwan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875520" y="1371600"/>
            <a:ext cx="1234440" cy="1234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378440" y="2468880"/>
            <a:ext cx="1234440" cy="1234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509760" y="3566160"/>
            <a:ext cx="1234440" cy="1234440"/>
          </a:xfrm>
          <a:prstGeom prst="rect">
            <a:avLst/>
          </a:prstGeom>
          <a:solidFill>
            <a:srgbClr val="E877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149840" y="4663440"/>
            <a:ext cx="1234440" cy="1234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162863" y="4663400"/>
            <a:ext cx="1208400" cy="1234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CONTENTS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Noto Sans"/>
              <a:buNone/>
            </a:pPr>
            <a:r>
              <a:rPr b="1" lang="en-US" sz="4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목차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240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TABLE OF CONTENTS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217920" y="12395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32320" y="12395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Introduction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132320" y="1696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P.03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프로필 · 핵심 성과 · 기술 스택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17920" y="28397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132320" y="2839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Experience 01. PeopleCore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132320" y="329692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P.04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프로젝트 개요 · 기술 스택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P.05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My Key Role · 핵심 설계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P.06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TroubleShooting · 동시성 제어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17920" y="48514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132320" y="4851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Experience 02. Pocha 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32320" y="530860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P.07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프로젝트 개요 · 기술 스택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P.08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My Key Role · 실시간 아키텍처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P.09  </a:t>
            </a:r>
            <a:r>
              <a:rPr lang="en-US" sz="1350">
                <a:solidFill>
                  <a:srgbClr val="444444"/>
                </a:solidFill>
                <a:latin typeface="Noto Sans"/>
                <a:ea typeface="Noto Sans"/>
                <a:cs typeface="Noto Sans"/>
                <a:sym typeface="Noto Sans"/>
              </a:rPr>
              <a:t>TroubleShooting · 메시지 유실 방지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INTRODUCTION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1051560"/>
            <a:ext cx="23317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Noto Sans"/>
              <a:buNone/>
            </a:pPr>
            <a:r>
              <a:rPr b="1" lang="en-US" sz="7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\黃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36118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황주완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40690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HWANG JU WAN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452628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Backend / AI Engineer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juwan7056@naver.com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github.com/HwangJwan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3429000" y="1051560"/>
            <a:ext cx="0" cy="475488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379476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EDUCATION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794760" y="1335024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2026  한화시스템 BEYOND SW CAMP 23기 수료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2024  강남대학교 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소프트웨어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전공 학사 졸업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794760" y="259689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KEY ACHIEVEMENTS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794760" y="2926080"/>
            <a:ext cx="4343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키워드·의미 검색을 결합한 Hybrid Search로 검색 정확도 </a:t>
            </a: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95%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 달성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동시 주문 100건에서 재고 차감 에러율을 </a:t>
            </a: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75%→0%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로 개선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Prompt Caching으로 AI 호출당 비용 </a:t>
            </a: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83%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 절감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안면인식 로그인 응답 속도를 27초에서 </a:t>
            </a: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3초</a:t>
            </a: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로 단축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794760" y="49560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FOCUS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794760" y="5285232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MSA · 멀티테넌시 · 동시성 제어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Hybrid Search · LLM 라우팅 · CDC 파이프라인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8275320" y="1051560"/>
            <a:ext cx="0" cy="475488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8641080" y="1005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8641080" y="141732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8641080" y="16916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Backend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641080" y="205740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Java 17 · Spring Boot 3 · Spring Security · Spring Data JPA · Spring Kafka · WebSocket/STOMP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641080" y="30632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AI · Search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41080" y="342900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FastAPI · Elasticsearch · ChromaDB · EXAONE 3.5 · Claude Haiku · OpenAI Embeddings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641080" y="417880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641080" y="4544568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MySQL 8 · Redis 7 · Kafka · Debezium CDC · MinIO · Redis Pub/Sub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641080" y="529437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Infra · CI/CD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641080" y="5660136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Noto Sans"/>
              <a:buNone/>
            </a:pPr>
            <a:r>
              <a:rPr lang="en-US" sz="11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Docker · Kubernetes(EKS) · AWS · nginx Ingress · GitHub Actions · JMeter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48" y="977755"/>
            <a:ext cx="1903608" cy="256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EXPERIENCE 01. PEOPLECORE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Noto Sans"/>
              <a:buNone/>
            </a:pPr>
            <a:r>
              <a:rPr b="1" lang="en-US" sz="3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PeopleCore</a:t>
            </a:r>
            <a:r>
              <a:rPr b="1" lang="en-US" sz="30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  피플코어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66928" y="1481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Noto Sans"/>
              <a:buNone/>
            </a:pPr>
            <a:r>
              <a:rPr lang="en-US" sz="13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MSA 기반 SaaS 통합 인사 시스템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2011680"/>
            <a:ext cx="17830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201168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Project Overview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94360" y="2542032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4인  ·  2026.03 - 2026.05  · 프론트엔드 · 백엔드 / AI · 인프라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4360" y="2926080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MSA 기반 </a:t>
            </a:r>
            <a:r>
              <a:rPr b="1" lang="en-US" sz="1250">
                <a:solidFill>
                  <a:srgbClr val="1B9E75"/>
                </a:solidFill>
                <a:latin typeface="Noto Sans"/>
                <a:ea typeface="Noto Sans"/>
                <a:cs typeface="Noto Sans"/>
                <a:sym typeface="Noto Sans"/>
              </a:rPr>
              <a:t>SaaS 통합 인사 시스템</a:t>
            </a:r>
            <a:r>
              <a:rPr lang="en-US" sz="12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으로, 중견·중소 기업을 위한 HR 솔루션. 고객사별 사용 환경·업무 프로세스·정책·권한을 폭넓게 커스텀할 수 있도록 설계, 서비스별 독립 배포 구조로 유연성과 확장성 확보.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434340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434340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548640" y="489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{C2A214C0-9A1B-4588-882F-F82198B0C34E}</a:tableStyleId>
              </a:tblPr>
              <a:tblGrid>
                <a:gridCol w="1417325"/>
                <a:gridCol w="44805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D9E75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Backend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Java 17, Spring Boot 3, Spring Security, JPA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D9E75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AI · Search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FastAPI, Elasticsearch, ChromaDB, EXAONE 3.5, Claude Haiku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D9E75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Data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MySQL 8, Redis 7, Kafka, Debezium CDC, MinIO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D9E75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Infra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Docker, Kubernetes(EKS), AWS, nginx, GitHub Actions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4"/>
          <p:cNvSpPr/>
          <p:nvPr/>
        </p:nvSpPr>
        <p:spPr>
          <a:xfrm>
            <a:off x="1211580" y="286207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https://github.com/beyond-sw-camp/be23-fin-2team-PeopleCore-be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903720" y="1737360"/>
            <a:ext cx="4709160" cy="4480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727" y="1938527"/>
            <a:ext cx="4043714" cy="2613906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4919" y="4826624"/>
            <a:ext cx="2229101" cy="998104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4"/>
          <p:cNvSpPr/>
          <p:nvPr/>
        </p:nvSpPr>
        <p:spPr>
          <a:xfrm>
            <a:off x="8189469" y="4598024"/>
            <a:ext cx="20802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PeopleCore 대시보드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04020" y="4826624"/>
            <a:ext cx="2080260" cy="998104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" name="Google Shape;96;p4"/>
          <p:cNvSpPr/>
          <p:nvPr/>
        </p:nvSpPr>
        <p:spPr>
          <a:xfrm>
            <a:off x="7114032" y="5897880"/>
            <a:ext cx="427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Hybrid Search로 유사어를 의미 기반 동일 인식 (Recall@5 95%)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94360" y="2907792"/>
            <a:ext cx="6847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GitHub 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EXPERIENCE 01. PEOPLECORE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868680"/>
            <a:ext cx="15544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86868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My Key Role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66928" y="139903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담당 기능</a:t>
            </a: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   로그인(ID/PW · 안면인식) · 조직도 관리 · 통합검색 · 파일함 · AI Copilot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66928" y="1819656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LLM 이중 라우팅 설계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민감 발화는 로컬 EXAONE 3.5, 일반 발화는 Claude Haiku로 분기 라우팅하여 PIPA 준수와 성능 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동시 확보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66928" y="2386584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RRF Hybrid Search 구축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BM25 키워드 매칭과 kNN 의미 검색을 RRF로 결합, Recall@5 95% 달성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66928" y="2953512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Debezium CDC 색인 파이프라인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MySQL binlog 기반 CDC로 DB 변경을 Elasticsearch에 자동 색인, 이벤트 누락 0건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66928" y="3520440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멀티테넌시 / 파일 권한 모델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company_id 기반 동일 DB 격리, MinIO Presigned URL 직접 업로드 + 2-Tier 권한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79120" y="4087368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Hybrid Search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키워드 기반 + 벡터 기반 검색을 결합한 Hybrid 검색으로 검색 정확도 95% 달성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79120" y="461772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Prompt Caching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시스템 프롬프트 재사용으로 2차 호출부터 호출당 비용 83% 절감 ($0.006202 → $0.001075)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79120" y="5148072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안면인식 로그인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face_recognition 채택으로 DeepFace 27초 → 3초, 9배 단축 · 임계값 실측 튜닝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766560" y="868680"/>
            <a:ext cx="214884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766560" y="86868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System Architecture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6550" y="1708500"/>
            <a:ext cx="5185600" cy="36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EXPERIENCE 01. PEOPLECORE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868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TroubleShooting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Case 01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EXAONE Tool Use 미지원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로컬 LLM EXAONE 3.5가 네이티브 Tool Use(함수 호출)를 지원하지 않아 도구 호출형 AI Copilot 구현 불가.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모델 교체는 PIPA 로컬 추론 요건과 충돌. 도구가 아닌 구조로 동일 결과를 내야 함을 파악.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[[CALL]] 마커 기반 Manual Prompting 프로토콜을 직접 설계, 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마커 파싱으로 네이티브와 동등한 도구 호출 구현.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3840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3840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Case 02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3840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검색 정확 매칭 한계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3840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3840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벡터(kNN) 의미 검색만으로는 사번·부서명 같은 정확 키워드 매칭이 약해 검색 품질 저하.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3840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3840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BM25는 정확 매칭, 벡터는 의미 유사에 강한 상호 보완 관계임을 직접 분석해 확인.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3840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3840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BM25 + kNN을 RRF로 결합한 Hybrid Search를 Elasticsearch 위에 구현, Recall@5 95% 달성.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2194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2194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Case 03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2194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DB-ES 정합성 유지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2194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2194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기존엔 CRUD 발생마다 Kafka 이벤트를 직접 발행. 누락 위험과 업무 효율 하락, 코드 가독성 저하.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2194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2194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애플리케이션이 직접 이벤트를 챙기는 대신, DB 변경 자체를 단일 출처로 감지하는 CDC 방식이 적합함을 파악.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194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2194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Debezium 도입으로 binlog를 감시해 변경 감지·Kafka 발행을 자동화. DB-ES 정합성을 유지하고 이벤트 누락 0건 달성.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5897880"/>
            <a:ext cx="73152" cy="6400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77240" y="58978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</a:rPr>
              <a:t>Reflection  </a:t>
            </a:r>
            <a:r>
              <a:rPr lang="en-US" sz="10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제약을 마주칠 때마다 도구나 모델을 바꾸기보다, 구조로 같은 결과를 내고 시스템이 스스로 정합성을 지키도록 설계하는 법을 체득.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EXPERIENCE 02. POCHA 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Noto Sans"/>
              <a:buNone/>
            </a:pPr>
            <a:r>
              <a:rPr b="1" lang="en-US" sz="30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Pocha On</a:t>
            </a:r>
            <a:r>
              <a:rPr b="1" lang="en-US" sz="30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  포차온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66928" y="1481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Noto Sans"/>
              <a:buNone/>
            </a:pPr>
            <a:r>
              <a:rPr lang="en-US" sz="13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포장마차·요식업 매장을 위한 실시간 주문·채팅 플랫폼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2011680"/>
            <a:ext cx="17830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48640" y="201168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Project Overview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94360" y="2542032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4인  ·  2026.01 - 2026.03  · 프론트엔드 · 백엔드 · 인프라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94360" y="2926080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포장마차·요식업 매장을 위한 </a:t>
            </a: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실시간 주문·채팅 플랫폼</a:t>
            </a:r>
            <a:r>
              <a:rPr lang="en-US" sz="12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. 주문 채널과 소통 채널을 완전히 분리해 트래픽 도메인을 격리하고 정확성과 자유로움을 동시에 확보. WebSocket 실시간 통신, Kafka 메시지 큐, Redis 캐싱을 갖춘 모놀리식 애플리케이션을 EKS 다중 Pod으로 수평 확장해 구현.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434340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434340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7"/>
          <p:cNvGraphicFramePr/>
          <p:nvPr/>
        </p:nvGraphicFramePr>
        <p:xfrm>
          <a:off x="548640" y="489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{C2A214C0-9A1B-4588-882F-F82198B0C34E}</a:tableStyleId>
              </a:tblPr>
              <a:tblGrid>
                <a:gridCol w="1417325"/>
                <a:gridCol w="44805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1E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71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Backend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Java 17, Spring Boot 3, WebSocket(STOMP)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1E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71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Messaging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Kafka, Redis Pub/Sub, SSE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1E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71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Data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MySQL 8, Redis 7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1E"/>
                        </a:buClr>
                        <a:buSzPts val="1050"/>
                        <a:buFont typeface="Noto San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71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Infra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Noto Sans"/>
                        <a:buNone/>
                      </a:pPr>
                      <a:r>
                        <a:rPr lang="en-US" sz="1050" u="none" cap="none" strike="noStrike">
                          <a:solidFill>
                            <a:srgbClr val="33333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Docker, Kubernetes(EKS), nginx Ingress, JMeter</a:t>
                      </a:r>
                      <a:endParaRPr sz="1050" u="none" cap="none" strike="noStrike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2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7"/>
          <p:cNvSpPr/>
          <p:nvPr/>
        </p:nvSpPr>
        <p:spPr>
          <a:xfrm>
            <a:off x="566928" y="63550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github : github.com/HwangJwan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903720" y="1737360"/>
            <a:ext cx="4709160" cy="4480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0425" y="2054176"/>
            <a:ext cx="3997850" cy="1795174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7"/>
          <p:cNvSpPr/>
          <p:nvPr/>
        </p:nvSpPr>
        <p:spPr>
          <a:xfrm>
            <a:off x="8287124" y="3930417"/>
            <a:ext cx="172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점주 대시보드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0428" y="4203493"/>
            <a:ext cx="1993392" cy="1759393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4876" y="4203493"/>
            <a:ext cx="1993392" cy="1759393"/>
          </a:xfrm>
          <a:prstGeom prst="rect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" name="Google Shape;181;p7"/>
          <p:cNvSpPr/>
          <p:nvPr/>
        </p:nvSpPr>
        <p:spPr>
          <a:xfrm>
            <a:off x="7159752" y="5972534"/>
            <a:ext cx="427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WebSocket/STOMP로 점주·고객·채팅 화면 실시간 동기화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211580" y="286207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1D9E75"/>
                </a:solidFill>
                <a:latin typeface="Noto Sans"/>
                <a:ea typeface="Noto Sans"/>
                <a:cs typeface="Noto Sans"/>
                <a:sym typeface="No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https://github.com/beyond-sw-camp/be23-2nd-team2-Pocha_On-be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94360" y="2907792"/>
            <a:ext cx="6847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GitHub 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EXPERIENCE 02. POCHA 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8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" y="868680"/>
            <a:ext cx="15544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48640" y="86868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My Key Role</a:t>
            </a:r>
            <a:endParaRPr sz="1250">
              <a:solidFill>
                <a:srgbClr val="E877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66928" y="139903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000"/>
              <a:buFont typeface="Noto Sans"/>
              <a:buNone/>
            </a:pPr>
            <a:r>
              <a:rPr b="1" lang="en-US" sz="10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담당 기능</a:t>
            </a: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   로그인 · 테이블 간 채팅 · 재고 관리 · 레시피 관리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66928" y="1819656"/>
            <a:ext cx="585216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JWT 3-Stage 토큰 설계</a:t>
            </a:r>
            <a:endParaRPr b="1" sz="1250">
              <a:solidFill>
                <a:srgbClr val="11111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매장·테이블 진입마다 권한이 달라지는 비회원 주문을 위해 BASE→STORE→TABLE 단계별 토큰 재발급·이전 폐기. AT/RT 시크릿 분리 + Redis 화이트리스트로 탈취 토큰 즉시 무효화.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66928" y="2669656"/>
            <a:ext cx="585216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테이블 이동·합치기 (MOVE / MERGE)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두 테이블을 비관적 락으로 동시 조회해 충돌 차단, 주문 일괄 이전·groupId 이관을 원자적으로 처리. 새 JWT 재발급 + Kafka→WebSocket으로 점주·주방·테이블 화면을 실시간 동기화, 30초 플래그로 비정상 롤백 차단.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66928" y="3519656"/>
            <a:ext cx="585216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실시간 채팅 (WebSocket / STOMP)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WebSocket/STOMP 기반으로 테이블 간 실시간 메시지 송수신을 구현. 매장·테이블 단위 토픽(/topic/...)으로 구독을 분리해 주문·호출·채팅이 해당 대상에게만 전달되도록 설계.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4369656"/>
            <a:ext cx="585216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커넥션 풀 튜닝</a:t>
            </a:r>
            <a:endParaRPr b="1" sz="1250">
              <a:solidFill>
                <a:srgbClr val="11111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커넥션 부족으로 스레드가 대기·타임아웃되던 문제를 HikariCP pool-size 2→10으로 해소. 100건 동시 주문 에러율 79%→0% · TPS 23.3→27.7.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5119656"/>
            <a:ext cx="585216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재고 정합성 100%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Calibri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락 없이 100건 동시 차감 시 284% 초과 차감·서버 CRASH → 비관적 락 적용 후 에러율 75%→0%, 오차 0% · 정합성 100%.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355080" y="868680"/>
            <a:ext cx="256032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355080" y="86868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System</a:t>
            </a: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 Architecture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38" y="1960490"/>
            <a:ext cx="5468111" cy="3638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548640" y="3840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EXPERIENCE 02. POCHA 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>
            <a:off x="4023360" y="566928"/>
            <a:ext cx="7040880" cy="0"/>
          </a:xfrm>
          <a:prstGeom prst="straightConnector1">
            <a:avLst/>
          </a:prstGeom>
          <a:noFill/>
          <a:ln cap="flat" cmpd="sng" w="12700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9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868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TroubleShooting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Case 01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86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재고 차감 동시성 (Race Condition)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486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동시 주문 100건 차감 시 에러율 75%, 실제 차감량이 정상의 284%를 초과하는 중복 차감 발생.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486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단일 방어로는 다중 Pod 환경의 동시 접근을 못 막았고, 락·메시지 큐·DB 커넥션 풀까지 단계별 병목을 확인.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Redis 멱등성 키 + Kafka concurrency=1 직렬화 + 비관적 락 3중 방어 적용, 에러율 75%→0% · 재고 정합성 100% 달성.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3840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3840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Case 02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3840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분산 Pod STOMP 메시지 유실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3840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3840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SimpleBroker In-Memory 방식은 Pod 간 fan-out이 안 돼, 특정 Pod 사용자가 다른 Pod의 메시지를 수신하지 못함.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3840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3840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STOMP 세션이 서버 메모리에 묶여 인스턴스 간 공유되지 않는 구조적 한계임을 파악.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3840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3840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모든 Pod이 Kafka Consumer로 수신 후 각자 STOMP 세션에 fan-out하도록 설계, Pod 간 메시지 유실을 구조적으로 해결.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8219440" y="150876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E87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219440" y="15087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Case 03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8219440" y="1996440"/>
            <a:ext cx="342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Cascade 연관관계 정합성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219440" y="2468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219440" y="2743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식자재 삭제 시 레시피(메뉴·옵션)에 연결돼 있으면 FK 제약 위반으로 실패. CascadeType.ALL만 걸면 의도치 않은 범위까지 삭제되는 위험도 존재.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219440" y="3611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219440" y="3886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입고 배치·메뉴 레시피는 Cascade로 삭제되지만, 옵션 레시피(IngredientMenuOptionDetail)는 별도 엔티티라 Cascade 대상에서 누락 → 삭제 순서 미보장 시 FK 위반.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219440" y="4754880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Solution &amp; 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219440" y="5029200"/>
            <a:ext cx="342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Noto Sans"/>
              <a:buNone/>
            </a:pPr>
            <a:r>
              <a:rPr lang="en-US" sz="1000">
                <a:solidFill>
                  <a:srgbClr val="6B6B6B"/>
                </a:solidFill>
                <a:latin typeface="Noto Sans"/>
                <a:ea typeface="Noto Sans"/>
                <a:cs typeface="Noto Sans"/>
                <a:sym typeface="Noto Sans"/>
              </a:rPr>
              <a:t>Cascade + 수동 삭제 2단계 전략: ① Cascade 밖 옵션 레시피를 먼저 수동 삭제해 FK 참조 제거 ② Ingredient 삭제 시 입고 배치·메뉴 레시피 자동 정리. 순서 보장으로 FK 위반 없이 일괄 삭제.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5897880"/>
            <a:ext cx="73152" cy="640080"/>
          </a:xfrm>
          <a:prstGeom prst="rect">
            <a:avLst/>
          </a:prstGeom>
          <a:solidFill>
            <a:srgbClr val="E877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7240" y="58978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771E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E8771E"/>
                </a:solidFill>
                <a:latin typeface="Noto Sans"/>
                <a:ea typeface="Noto Sans"/>
                <a:cs typeface="Noto Sans"/>
                <a:sym typeface="Noto Sans"/>
              </a:rPr>
              <a:t>Reflection  </a:t>
            </a:r>
            <a:r>
              <a:rPr lang="en-US" sz="105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동시성·분산 환경의 메시지 전파·연관 데이터 정합성까지, 단순 해결을 넘어 데이터 무결성과 시스템 안정성을 함께 고려하는 설계의 중요성을 체득.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2026-06-02T23:27:45Z</dcterms:created>
  <dc:creator>황주완</dc:creator>
</cp:coreProperties>
</file>