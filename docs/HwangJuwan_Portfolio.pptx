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제목 텍스트</a:t>
            </a:r>
          </a:p>
        </p:txBody>
      </p:sp>
      <p:sp>
        <p:nvSpPr>
          <p:cNvPr id="3" name="본문 첫 번째 줄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beyond-sw-camp/be23-fin-2team-PeopleCore-be" TargetMode="External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github.com/beyond-sw-camp/be23-2nd-team2-Pocha_On-be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868680" y="1051560"/>
            <a:ext cx="196596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868679" y="1154684"/>
            <a:ext cx="196596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Backend Engineer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822960" y="1529080"/>
            <a:ext cx="77724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78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822960" y="2672079"/>
            <a:ext cx="77724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i="1" spc="100" sz="78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DRIVEN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822960" y="3815079"/>
            <a:ext cx="86868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78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BACKEND.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868680" y="5365430"/>
            <a:ext cx="8229601" cy="24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5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하나의 문제 앞에서 여러 대안을 비교하고, 근거 위에서 판단하는 </a:t>
            </a:r>
            <a:r>
              <a:rPr b="1">
                <a:solidFill>
                  <a:srgbClr val="111111"/>
                </a:solidFill>
              </a:rPr>
              <a:t>백엔드 개발자 황주완</a:t>
            </a:r>
            <a:r>
              <a:t>입니다.</a:t>
            </a:r>
          </a:p>
        </p:txBody>
      </p:sp>
      <p:sp>
        <p:nvSpPr>
          <p:cNvPr id="26" name="Shape 7"/>
          <p:cNvSpPr/>
          <p:nvPr/>
        </p:nvSpPr>
        <p:spPr>
          <a:xfrm>
            <a:off x="9875519" y="1371599"/>
            <a:ext cx="1234441" cy="1234442"/>
          </a:xfrm>
          <a:prstGeom prst="rect">
            <a:avLst/>
          </a:prstGeom>
          <a:solidFill>
            <a:srgbClr val="11111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Shape 8"/>
          <p:cNvSpPr/>
          <p:nvPr/>
        </p:nvSpPr>
        <p:spPr>
          <a:xfrm>
            <a:off x="10378440" y="2468879"/>
            <a:ext cx="1234441" cy="1234441"/>
          </a:xfrm>
          <a:prstGeom prst="rect">
            <a:avLst/>
          </a:prstGeom>
          <a:solidFill>
            <a:srgbClr val="1D9E7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9"/>
          <p:cNvSpPr/>
          <p:nvPr/>
        </p:nvSpPr>
        <p:spPr>
          <a:xfrm>
            <a:off x="9509759" y="3566159"/>
            <a:ext cx="1234441" cy="1234441"/>
          </a:xfrm>
          <a:prstGeom prst="rect">
            <a:avLst/>
          </a:prstGeom>
          <a:solidFill>
            <a:srgbClr val="E877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Shape 10"/>
          <p:cNvSpPr/>
          <p:nvPr/>
        </p:nvSpPr>
        <p:spPr>
          <a:xfrm>
            <a:off x="10149840" y="4663440"/>
            <a:ext cx="1234441" cy="123444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CONTENTS</a:t>
            </a:r>
          </a:p>
        </p:txBody>
      </p:sp>
      <p:sp>
        <p:nvSpPr>
          <p:cNvPr id="32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11111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00</a:t>
            </a:r>
          </a:p>
        </p:txBody>
      </p:sp>
      <p:sp>
        <p:nvSpPr>
          <p:cNvPr id="34" name="Title KR"/>
          <p:cNvSpPr txBox="1"/>
          <p:nvPr/>
        </p:nvSpPr>
        <p:spPr>
          <a:xfrm>
            <a:off x="548640" y="1417319"/>
            <a:ext cx="6400801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40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목차</a:t>
            </a:r>
          </a:p>
        </p:txBody>
      </p:sp>
      <p:sp>
        <p:nvSpPr>
          <p:cNvPr id="35" name="Title EN"/>
          <p:cNvSpPr txBox="1"/>
          <p:nvPr/>
        </p:nvSpPr>
        <p:spPr>
          <a:xfrm>
            <a:off x="548640" y="2240279"/>
            <a:ext cx="64008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100" sz="14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TABLE OF CONTENTS</a:t>
            </a:r>
          </a:p>
        </p:txBody>
      </p:sp>
      <p:sp>
        <p:nvSpPr>
          <p:cNvPr id="36" name="Num 01"/>
          <p:cNvSpPr txBox="1"/>
          <p:nvPr/>
        </p:nvSpPr>
        <p:spPr>
          <a:xfrm>
            <a:off x="6217920" y="1239519"/>
            <a:ext cx="731521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7" name="Item 01 Title"/>
          <p:cNvSpPr txBox="1"/>
          <p:nvPr/>
        </p:nvSpPr>
        <p:spPr>
          <a:xfrm>
            <a:off x="7132319" y="1239519"/>
            <a:ext cx="356616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Introduction</a:t>
            </a:r>
          </a:p>
        </p:txBody>
      </p:sp>
      <p:sp>
        <p:nvSpPr>
          <p:cNvPr id="38" name="Item 01 Detail"/>
          <p:cNvSpPr txBox="1"/>
          <p:nvPr/>
        </p:nvSpPr>
        <p:spPr>
          <a:xfrm>
            <a:off x="7132319" y="1696720"/>
            <a:ext cx="3566160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P.01  </a:t>
            </a:r>
            <a:r>
              <a:rPr b="0">
                <a:solidFill>
                  <a:srgbClr val="444444"/>
                </a:solidFill>
              </a:rPr>
              <a:t>프로필 · 핵심 성과 · 기술 스택</a:t>
            </a:r>
          </a:p>
        </p:txBody>
      </p:sp>
      <p:sp>
        <p:nvSpPr>
          <p:cNvPr id="39" name="Num 02"/>
          <p:cNvSpPr txBox="1"/>
          <p:nvPr/>
        </p:nvSpPr>
        <p:spPr>
          <a:xfrm>
            <a:off x="6217920" y="2839720"/>
            <a:ext cx="731521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0" name="Item 02 Title"/>
          <p:cNvSpPr txBox="1"/>
          <p:nvPr/>
        </p:nvSpPr>
        <p:spPr>
          <a:xfrm>
            <a:off x="7132319" y="2839720"/>
            <a:ext cx="356616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01. PeopleCore</a:t>
            </a:r>
          </a:p>
        </p:txBody>
      </p:sp>
      <p:sp>
        <p:nvSpPr>
          <p:cNvPr id="41" name="Item 02 Detail"/>
          <p:cNvSpPr txBox="1"/>
          <p:nvPr/>
        </p:nvSpPr>
        <p:spPr>
          <a:xfrm>
            <a:off x="7132319" y="3296920"/>
            <a:ext cx="3840481" cy="893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8000"/>
              </a:lnSpc>
              <a:defRPr b="1" sz="13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P.02  </a:t>
            </a:r>
            <a:r>
              <a:rPr b="0">
                <a:solidFill>
                  <a:srgbClr val="444444"/>
                </a:solidFill>
              </a:rPr>
              <a:t>프로젝트 개요 · 기술 스택</a:t>
            </a:r>
            <a:endParaRPr b="0">
              <a:solidFill>
                <a:srgbClr val="444444"/>
              </a:solidFill>
            </a:endParaRPr>
          </a:p>
          <a:p>
            <a:pPr>
              <a:lnSpc>
                <a:spcPct val="158000"/>
              </a:lnSpc>
              <a:defRPr b="1" sz="13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P.03  </a:t>
            </a:r>
            <a:r>
              <a:rPr b="0">
                <a:solidFill>
                  <a:srgbClr val="444444"/>
                </a:solidFill>
              </a:rPr>
              <a:t>My Key Role · 핵심 설계</a:t>
            </a:r>
            <a:endParaRPr b="0">
              <a:solidFill>
                <a:srgbClr val="444444"/>
              </a:solidFill>
            </a:endParaRPr>
          </a:p>
          <a:p>
            <a:pPr>
              <a:lnSpc>
                <a:spcPct val="158000"/>
              </a:lnSpc>
              <a:defRPr b="1" sz="13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P.04  </a:t>
            </a:r>
            <a:r>
              <a:rPr b="0">
                <a:solidFill>
                  <a:srgbClr val="444444"/>
                </a:solidFill>
              </a:rPr>
              <a:t>TroubleShooting · 동시성 제어</a:t>
            </a:r>
          </a:p>
        </p:txBody>
      </p:sp>
      <p:sp>
        <p:nvSpPr>
          <p:cNvPr id="42" name="Num 03"/>
          <p:cNvSpPr txBox="1"/>
          <p:nvPr/>
        </p:nvSpPr>
        <p:spPr>
          <a:xfrm>
            <a:off x="6217920" y="4851399"/>
            <a:ext cx="731521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F97316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3" name="Item 03 Title"/>
          <p:cNvSpPr txBox="1"/>
          <p:nvPr/>
        </p:nvSpPr>
        <p:spPr>
          <a:xfrm>
            <a:off x="7132319" y="4851399"/>
            <a:ext cx="356616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02. Pocha On</a:t>
            </a:r>
          </a:p>
        </p:txBody>
      </p:sp>
      <p:sp>
        <p:nvSpPr>
          <p:cNvPr id="44" name="Item 03 Detail"/>
          <p:cNvSpPr txBox="1"/>
          <p:nvPr/>
        </p:nvSpPr>
        <p:spPr>
          <a:xfrm>
            <a:off x="7132319" y="5308600"/>
            <a:ext cx="3840481" cy="893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8000"/>
              </a:lnSpc>
              <a:defRPr b="1" sz="1300">
                <a:solidFill>
                  <a:srgbClr val="F97316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P.05  </a:t>
            </a:r>
            <a:r>
              <a:rPr b="0">
                <a:solidFill>
                  <a:srgbClr val="444444"/>
                </a:solidFill>
              </a:rPr>
              <a:t>프로젝트 개요 · 기술 스택</a:t>
            </a:r>
            <a:endParaRPr b="0">
              <a:solidFill>
                <a:srgbClr val="444444"/>
              </a:solidFill>
            </a:endParaRPr>
          </a:p>
          <a:p>
            <a:pPr>
              <a:lnSpc>
                <a:spcPct val="158000"/>
              </a:lnSpc>
              <a:defRPr b="1" sz="1300">
                <a:solidFill>
                  <a:srgbClr val="F97316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P.06  </a:t>
            </a:r>
            <a:r>
              <a:rPr b="0">
                <a:solidFill>
                  <a:srgbClr val="444444"/>
                </a:solidFill>
              </a:rPr>
              <a:t>My Key Role · 실시간 아키텍처</a:t>
            </a:r>
            <a:endParaRPr b="0">
              <a:solidFill>
                <a:srgbClr val="444444"/>
              </a:solidFill>
            </a:endParaRPr>
          </a:p>
          <a:p>
            <a:pPr>
              <a:lnSpc>
                <a:spcPct val="158000"/>
              </a:lnSpc>
              <a:defRPr b="1" sz="1300">
                <a:solidFill>
                  <a:srgbClr val="F97316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P.07  </a:t>
            </a:r>
            <a:r>
              <a:rPr b="0">
                <a:solidFill>
                  <a:srgbClr val="444444"/>
                </a:solidFill>
              </a:rPr>
              <a:t>TroubleShooting · 메시지 유실 방지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INTRODUCTION</a:t>
            </a:r>
          </a:p>
        </p:txBody>
      </p:sp>
      <p:sp>
        <p:nvSpPr>
          <p:cNvPr id="47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11111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49" name="Text 4"/>
          <p:cNvSpPr txBox="1"/>
          <p:nvPr/>
        </p:nvSpPr>
        <p:spPr>
          <a:xfrm>
            <a:off x="548639" y="1639306"/>
            <a:ext cx="2331722" cy="1156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20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\黃</a:t>
            </a:r>
          </a:p>
        </p:txBody>
      </p:sp>
      <p:sp>
        <p:nvSpPr>
          <p:cNvPr id="50" name="Text 5"/>
          <p:cNvSpPr txBox="1"/>
          <p:nvPr/>
        </p:nvSpPr>
        <p:spPr>
          <a:xfrm>
            <a:off x="548639" y="3656329"/>
            <a:ext cx="2331722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황주완</a:t>
            </a:r>
          </a:p>
        </p:txBody>
      </p:sp>
      <p:sp>
        <p:nvSpPr>
          <p:cNvPr id="51" name="Text 6"/>
          <p:cNvSpPr txBox="1"/>
          <p:nvPr/>
        </p:nvSpPr>
        <p:spPr>
          <a:xfrm>
            <a:off x="548639" y="4127499"/>
            <a:ext cx="2331722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3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HWANG JU WAN</a:t>
            </a:r>
          </a:p>
        </p:txBody>
      </p:sp>
      <p:sp>
        <p:nvSpPr>
          <p:cNvPr id="52" name="Text 7"/>
          <p:cNvSpPr txBox="1"/>
          <p:nvPr/>
        </p:nvSpPr>
        <p:spPr>
          <a:xfrm>
            <a:off x="548640" y="4734559"/>
            <a:ext cx="2606040" cy="680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Backend / AI Engineer</a:t>
            </a:r>
          </a:p>
          <a:p>
            <a:pPr>
              <a:lnSpc>
                <a:spcPct val="110000"/>
              </a:lnSpc>
              <a:spcBef>
                <a:spcPts val="600"/>
              </a:spcBef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juwan7056@naver.com</a:t>
            </a:r>
          </a:p>
          <a:p>
            <a:pPr>
              <a:lnSpc>
                <a:spcPct val="110000"/>
              </a:lnSpc>
              <a:spcBef>
                <a:spcPts val="600"/>
              </a:spcBef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github.com/HwangJwan</a:t>
            </a:r>
          </a:p>
        </p:txBody>
      </p:sp>
      <p:sp>
        <p:nvSpPr>
          <p:cNvPr id="53" name="Shape 8"/>
          <p:cNvSpPr/>
          <p:nvPr/>
        </p:nvSpPr>
        <p:spPr>
          <a:xfrm flipH="1">
            <a:off x="3429000" y="1051560"/>
            <a:ext cx="1" cy="4754881"/>
          </a:xfrm>
          <a:prstGeom prst="line">
            <a:avLst/>
          </a:prstGeom>
          <a:ln w="12700">
            <a:solidFill>
              <a:srgbClr val="E2E2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Text 9"/>
          <p:cNvSpPr txBox="1"/>
          <p:nvPr/>
        </p:nvSpPr>
        <p:spPr>
          <a:xfrm>
            <a:off x="3794759" y="1068069"/>
            <a:ext cx="4114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EDUCATION</a:t>
            </a:r>
          </a:p>
        </p:txBody>
      </p:sp>
      <p:sp>
        <p:nvSpPr>
          <p:cNvPr id="55" name="Text 10"/>
          <p:cNvSpPr txBox="1"/>
          <p:nvPr/>
        </p:nvSpPr>
        <p:spPr>
          <a:xfrm>
            <a:off x="3794759" y="1434401"/>
            <a:ext cx="4206241" cy="441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spcBef>
                <a:spcPts val="4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2026  </a:t>
            </a:r>
            <a:r>
              <a:t>한화시스템 </a:t>
            </a:r>
            <a:r>
              <a:t>BEYOND SW CAMP 23</a:t>
            </a:r>
            <a:r>
              <a:t>기 수료</a:t>
            </a:r>
          </a:p>
          <a:p>
            <a:pPr>
              <a:lnSpc>
                <a:spcPct val="104999"/>
              </a:lnSpc>
              <a:spcBef>
                <a:spcPts val="4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2024  </a:t>
            </a:r>
            <a:r>
              <a:t>강남대학교 소프트웨어</a:t>
            </a:r>
            <a:r>
              <a:t>전공 학사 졸업</a:t>
            </a:r>
          </a:p>
        </p:txBody>
      </p:sp>
      <p:sp>
        <p:nvSpPr>
          <p:cNvPr id="56" name="Text 11"/>
          <p:cNvSpPr txBox="1"/>
          <p:nvPr/>
        </p:nvSpPr>
        <p:spPr>
          <a:xfrm>
            <a:off x="3794759" y="2659125"/>
            <a:ext cx="42062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KEY ACHIEVEMENTS</a:t>
            </a:r>
          </a:p>
        </p:txBody>
      </p:sp>
      <p:sp>
        <p:nvSpPr>
          <p:cNvPr id="57" name="Text 12"/>
          <p:cNvSpPr txBox="1"/>
          <p:nvPr/>
        </p:nvSpPr>
        <p:spPr>
          <a:xfrm>
            <a:off x="3794759" y="3140886"/>
            <a:ext cx="4343401" cy="1033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spcBef>
                <a:spcPts val="6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키워드·의미 검색을 결합한 Hybrid Search로 검색 정확도 </a:t>
            </a:r>
            <a:r>
              <a:rPr b="1">
                <a:solidFill>
                  <a:srgbClr val="111111"/>
                </a:solidFill>
              </a:rPr>
              <a:t>95%</a:t>
            </a:r>
            <a:r>
              <a:t> 달성</a:t>
            </a:r>
          </a:p>
          <a:p>
            <a:pPr>
              <a:lnSpc>
                <a:spcPct val="104999"/>
              </a:lnSpc>
              <a:spcBef>
                <a:spcPts val="6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동시 주문 100건에서 재고 차감 에러율을 </a:t>
            </a:r>
            <a:r>
              <a:rPr b="1">
                <a:solidFill>
                  <a:srgbClr val="111111"/>
                </a:solidFill>
              </a:rPr>
              <a:t>75%→0%</a:t>
            </a:r>
            <a:r>
              <a:t>로 개선</a:t>
            </a:r>
          </a:p>
          <a:p>
            <a:pPr>
              <a:lnSpc>
                <a:spcPct val="104999"/>
              </a:lnSpc>
              <a:spcBef>
                <a:spcPts val="6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Prompt Caching으로 AI 호출당 비용 </a:t>
            </a:r>
            <a:r>
              <a:rPr b="1">
                <a:solidFill>
                  <a:srgbClr val="111111"/>
                </a:solidFill>
              </a:rPr>
              <a:t>83%</a:t>
            </a:r>
            <a:r>
              <a:t> 절감</a:t>
            </a:r>
          </a:p>
          <a:p>
            <a:pPr>
              <a:lnSpc>
                <a:spcPct val="104999"/>
              </a:lnSpc>
              <a:spcBef>
                <a:spcPts val="6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안면인식 로그인 응답 속도를 27초에서 </a:t>
            </a:r>
            <a:r>
              <a:rPr b="1">
                <a:solidFill>
                  <a:srgbClr val="111111"/>
                </a:solidFill>
              </a:rPr>
              <a:t>3초</a:t>
            </a:r>
            <a:r>
              <a:t>로 단축</a:t>
            </a:r>
          </a:p>
        </p:txBody>
      </p:sp>
      <p:sp>
        <p:nvSpPr>
          <p:cNvPr id="58" name="Text 13"/>
          <p:cNvSpPr txBox="1"/>
          <p:nvPr/>
        </p:nvSpPr>
        <p:spPr>
          <a:xfrm>
            <a:off x="3794759" y="5018277"/>
            <a:ext cx="41148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FOCUS</a:t>
            </a:r>
          </a:p>
        </p:txBody>
      </p:sp>
      <p:sp>
        <p:nvSpPr>
          <p:cNvPr id="59" name="Text 14"/>
          <p:cNvSpPr txBox="1"/>
          <p:nvPr/>
        </p:nvSpPr>
        <p:spPr>
          <a:xfrm>
            <a:off x="3794759" y="5384609"/>
            <a:ext cx="4206241" cy="441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spcBef>
                <a:spcPts val="4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MSA · 멀티테넌시 · 동시성 제어</a:t>
            </a:r>
          </a:p>
          <a:p>
            <a:pPr>
              <a:lnSpc>
                <a:spcPct val="104999"/>
              </a:lnSpc>
              <a:spcBef>
                <a:spcPts val="400"/>
              </a:spcBef>
              <a:defRPr sz="12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Hybrid Search · LLM 라우팅 · CDC 파이프라인</a:t>
            </a:r>
          </a:p>
        </p:txBody>
      </p:sp>
      <p:sp>
        <p:nvSpPr>
          <p:cNvPr id="60" name="Shape 15"/>
          <p:cNvSpPr/>
          <p:nvPr/>
        </p:nvSpPr>
        <p:spPr>
          <a:xfrm flipH="1">
            <a:off x="8275319" y="1051560"/>
            <a:ext cx="1" cy="4754881"/>
          </a:xfrm>
          <a:prstGeom prst="line">
            <a:avLst/>
          </a:prstGeom>
          <a:ln w="12700">
            <a:solidFill>
              <a:srgbClr val="E2E2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16"/>
          <p:cNvSpPr txBox="1"/>
          <p:nvPr/>
        </p:nvSpPr>
        <p:spPr>
          <a:xfrm>
            <a:off x="8641080" y="1068069"/>
            <a:ext cx="32004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TECH STACK</a:t>
            </a:r>
          </a:p>
        </p:txBody>
      </p:sp>
      <p:sp>
        <p:nvSpPr>
          <p:cNvPr id="62" name="Shape 17"/>
          <p:cNvSpPr/>
          <p:nvPr/>
        </p:nvSpPr>
        <p:spPr>
          <a:xfrm>
            <a:off x="8641080" y="1417319"/>
            <a:ext cx="3200401" cy="1"/>
          </a:xfrm>
          <a:prstGeom prst="line">
            <a:avLst/>
          </a:prstGeom>
          <a:ln w="12700">
            <a:solidFill>
              <a:srgbClr val="E2E2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18"/>
          <p:cNvSpPr txBox="1"/>
          <p:nvPr/>
        </p:nvSpPr>
        <p:spPr>
          <a:xfrm>
            <a:off x="8641080" y="1737359"/>
            <a:ext cx="32918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Backend</a:t>
            </a:r>
          </a:p>
        </p:txBody>
      </p:sp>
      <p:sp>
        <p:nvSpPr>
          <p:cNvPr id="64" name="Text 19"/>
          <p:cNvSpPr txBox="1"/>
          <p:nvPr/>
        </p:nvSpPr>
        <p:spPr>
          <a:xfrm>
            <a:off x="8641080" y="2057399"/>
            <a:ext cx="3291841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Java 17 · Spring Boot 3 · Spring Security · Spring Data JPA · Spring Kafka · WebSocket/STOMP</a:t>
            </a:r>
          </a:p>
        </p:txBody>
      </p:sp>
      <p:sp>
        <p:nvSpPr>
          <p:cNvPr id="65" name="Text 20"/>
          <p:cNvSpPr txBox="1"/>
          <p:nvPr/>
        </p:nvSpPr>
        <p:spPr>
          <a:xfrm>
            <a:off x="8641080" y="3108959"/>
            <a:ext cx="32918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AI · Search</a:t>
            </a:r>
          </a:p>
        </p:txBody>
      </p:sp>
      <p:sp>
        <p:nvSpPr>
          <p:cNvPr id="66" name="Text 21"/>
          <p:cNvSpPr txBox="1"/>
          <p:nvPr/>
        </p:nvSpPr>
        <p:spPr>
          <a:xfrm>
            <a:off x="8641080" y="3428999"/>
            <a:ext cx="3291841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FastAPI · Elasticsearch · ChromaDB · EXAONE 3.5 · Claude Haiku · OpenAI Embeddings</a:t>
            </a:r>
          </a:p>
        </p:txBody>
      </p:sp>
      <p:sp>
        <p:nvSpPr>
          <p:cNvPr id="67" name="Text 22"/>
          <p:cNvSpPr txBox="1"/>
          <p:nvPr/>
        </p:nvSpPr>
        <p:spPr>
          <a:xfrm>
            <a:off x="8641080" y="4224528"/>
            <a:ext cx="32918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Data</a:t>
            </a:r>
          </a:p>
        </p:txBody>
      </p:sp>
      <p:sp>
        <p:nvSpPr>
          <p:cNvPr id="68" name="Text 23"/>
          <p:cNvSpPr txBox="1"/>
          <p:nvPr/>
        </p:nvSpPr>
        <p:spPr>
          <a:xfrm>
            <a:off x="8641080" y="4544567"/>
            <a:ext cx="3291841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MySQL 8 · Redis 7 · Kafka · Debezium CDC · MinIO · Redis Pub/Sub</a:t>
            </a:r>
          </a:p>
        </p:txBody>
      </p:sp>
      <p:sp>
        <p:nvSpPr>
          <p:cNvPr id="69" name="Text 24"/>
          <p:cNvSpPr txBox="1"/>
          <p:nvPr/>
        </p:nvSpPr>
        <p:spPr>
          <a:xfrm>
            <a:off x="8641080" y="5340096"/>
            <a:ext cx="32918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Infra · CI/CD</a:t>
            </a:r>
          </a:p>
        </p:txBody>
      </p:sp>
      <p:sp>
        <p:nvSpPr>
          <p:cNvPr id="70" name="Text 25"/>
          <p:cNvSpPr txBox="1"/>
          <p:nvPr/>
        </p:nvSpPr>
        <p:spPr>
          <a:xfrm>
            <a:off x="8641080" y="5660135"/>
            <a:ext cx="3291841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Docker · Kubernetes(EKS) · AWS · nginx Ingress · GitHub Actions · JMeter</a:t>
            </a:r>
          </a:p>
        </p:txBody>
      </p:sp>
      <p:pic>
        <p:nvPicPr>
          <p:cNvPr id="71" name="그림 28" descr="그림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2147" y="977755"/>
            <a:ext cx="1903610" cy="256554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01. PEOPLECORE</a:t>
            </a:r>
          </a:p>
        </p:txBody>
      </p:sp>
      <p:sp>
        <p:nvSpPr>
          <p:cNvPr id="74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76" name="Text 3"/>
          <p:cNvSpPr txBox="1"/>
          <p:nvPr/>
        </p:nvSpPr>
        <p:spPr>
          <a:xfrm>
            <a:off x="548640" y="946781"/>
            <a:ext cx="8229601" cy="483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30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PeopleCore</a:t>
            </a:r>
            <a:r>
              <a:rPr>
                <a:solidFill>
                  <a:srgbClr val="1D9E75"/>
                </a:solidFill>
              </a:rPr>
              <a:t>  피플코어</a:t>
            </a:r>
          </a:p>
        </p:txBody>
      </p:sp>
      <p:sp>
        <p:nvSpPr>
          <p:cNvPr id="77" name="Text 4"/>
          <p:cNvSpPr txBox="1"/>
          <p:nvPr/>
        </p:nvSpPr>
        <p:spPr>
          <a:xfrm>
            <a:off x="566927" y="1556827"/>
            <a:ext cx="822960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MSA 기반 SaaS 통합 인사 시스템</a:t>
            </a:r>
          </a:p>
        </p:txBody>
      </p:sp>
      <p:sp>
        <p:nvSpPr>
          <p:cNvPr id="78" name="Shape 5"/>
          <p:cNvSpPr/>
          <p:nvPr/>
        </p:nvSpPr>
        <p:spPr>
          <a:xfrm>
            <a:off x="548640" y="2011679"/>
            <a:ext cx="1783080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Text 6"/>
          <p:cNvSpPr txBox="1"/>
          <p:nvPr/>
        </p:nvSpPr>
        <p:spPr>
          <a:xfrm>
            <a:off x="548640" y="2114803"/>
            <a:ext cx="178307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Project Overview</a:t>
            </a:r>
          </a:p>
        </p:txBody>
      </p:sp>
      <p:sp>
        <p:nvSpPr>
          <p:cNvPr id="80" name="Text 7"/>
          <p:cNvSpPr txBox="1"/>
          <p:nvPr/>
        </p:nvSpPr>
        <p:spPr>
          <a:xfrm>
            <a:off x="594359" y="2606802"/>
            <a:ext cx="576072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4인  ·  2026.03 - 2026.05  · </a:t>
            </a:r>
            <a:r>
              <a:t>프론트엔드 </a:t>
            </a:r>
            <a:r>
              <a:t>· 백엔드 / AI</a:t>
            </a:r>
            <a:r>
              <a:t> </a:t>
            </a:r>
            <a:r>
              <a:t>·</a:t>
            </a:r>
            <a:r>
              <a:t> 인프라</a:t>
            </a:r>
          </a:p>
        </p:txBody>
      </p:sp>
      <p:sp>
        <p:nvSpPr>
          <p:cNvPr id="81" name="Text 8"/>
          <p:cNvSpPr txBox="1"/>
          <p:nvPr/>
        </p:nvSpPr>
        <p:spPr>
          <a:xfrm>
            <a:off x="594359" y="3278504"/>
            <a:ext cx="5852162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MSA 기반 </a:t>
            </a:r>
            <a:r>
              <a:rPr b="1">
                <a:solidFill>
                  <a:srgbClr val="1B9E75"/>
                </a:solidFill>
              </a:rPr>
              <a:t>SaaS 통합 인사 시스템</a:t>
            </a:r>
            <a:r>
              <a:t>으로, 중견·중소 기업을 위한 HR 솔루션. 고객사별 사용 환경·업무 프로세스·정책·권한을 폭넓게 커스텀할 수 있도록 설계, 서비스별 독립 배포 구조로 유연성과 확장성 확보.</a:t>
            </a:r>
          </a:p>
        </p:txBody>
      </p:sp>
      <p:sp>
        <p:nvSpPr>
          <p:cNvPr id="82" name="Shape 9"/>
          <p:cNvSpPr/>
          <p:nvPr/>
        </p:nvSpPr>
        <p:spPr>
          <a:xfrm>
            <a:off x="548640" y="4343400"/>
            <a:ext cx="132588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10"/>
          <p:cNvSpPr txBox="1"/>
          <p:nvPr/>
        </p:nvSpPr>
        <p:spPr>
          <a:xfrm>
            <a:off x="548639" y="4446524"/>
            <a:ext cx="13258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Tech Stack</a:t>
            </a:r>
          </a:p>
        </p:txBody>
      </p:sp>
      <p:graphicFrame>
        <p:nvGraphicFramePr>
          <p:cNvPr id="84" name="Table 0"/>
          <p:cNvGraphicFramePr/>
          <p:nvPr/>
        </p:nvGraphicFramePr>
        <p:xfrm>
          <a:off x="548640" y="4892040"/>
          <a:ext cx="5897880" cy="124358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1732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D9E75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Backend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Java 17, Spring Boot 3, Spring Security, JPA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D9E75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AI · Search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FastAPI, Elasticsearch, ChromaDB, EXAONE 3.5, Claude Haiku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D9E75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Data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MySQL 8, Redis 7, Kafka, Debezium CDC, MinIO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D9E75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Infra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Docker, Kubernetes(EKS), AWS, nginx, GitHub Actions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Text 11"/>
          <p:cNvSpPr txBox="1"/>
          <p:nvPr/>
        </p:nvSpPr>
        <p:spPr>
          <a:xfrm>
            <a:off x="1211580" y="2991612"/>
            <a:ext cx="59436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latin typeface="Noto Sans CJK KR"/>
                <a:ea typeface="Noto Sans CJK KR"/>
                <a:cs typeface="Noto Sans CJK KR"/>
                <a:sym typeface="Noto Sans CJK KR"/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1D9E75"/>
                </a:solidFill>
                <a:uFillTx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https://github.com/beyond-sw-camp/be23-fin-2team-PeopleCore-be</a:t>
            </a:r>
          </a:p>
        </p:txBody>
      </p:sp>
      <p:sp>
        <p:nvSpPr>
          <p:cNvPr id="86" name="Shape 12"/>
          <p:cNvSpPr/>
          <p:nvPr/>
        </p:nvSpPr>
        <p:spPr>
          <a:xfrm>
            <a:off x="6903719" y="1737360"/>
            <a:ext cx="4709161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2E2"/>
            </a:solidFill>
          </a:ln>
          <a:effectLst>
            <a:outerShdw sx="100000" sy="100000" kx="0" ky="0" algn="b" rotWithShape="0" blurRad="101600" dist="381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87" name="Dashboard Screen" descr="Dashboard Scree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87491" y="1798120"/>
            <a:ext cx="4260724" cy="2754184"/>
          </a:xfrm>
          <a:prstGeom prst="rect">
            <a:avLst/>
          </a:prstGeom>
          <a:ln>
            <a:solidFill>
              <a:srgbClr val="E2E2E2"/>
            </a:solidFill>
          </a:ln>
        </p:spPr>
      </p:pic>
      <p:pic>
        <p:nvPicPr>
          <p:cNvPr id="88" name="Salary Search" descr="Salary Search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074919" y="4826623"/>
            <a:ext cx="2229102" cy="998105"/>
          </a:xfrm>
          <a:prstGeom prst="rect">
            <a:avLst/>
          </a:prstGeom>
          <a:ln>
            <a:solidFill>
              <a:srgbClr val="E2E2E2"/>
            </a:solidFill>
          </a:ln>
        </p:spPr>
      </p:pic>
      <p:sp>
        <p:nvSpPr>
          <p:cNvPr id="89" name="Label Monthly"/>
          <p:cNvSpPr txBox="1"/>
          <p:nvPr/>
        </p:nvSpPr>
        <p:spPr>
          <a:xfrm>
            <a:off x="8189469" y="4608817"/>
            <a:ext cx="2080261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PeopleCore </a:t>
            </a:r>
            <a:r>
              <a:t>대시보드</a:t>
            </a:r>
          </a:p>
        </p:txBody>
      </p:sp>
      <p:pic>
        <p:nvPicPr>
          <p:cNvPr id="90" name="Monthly Search" descr="Monthly Search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04019" y="4826623"/>
            <a:ext cx="2080261" cy="998105"/>
          </a:xfrm>
          <a:prstGeom prst="rect">
            <a:avLst/>
          </a:prstGeom>
          <a:ln>
            <a:solidFill>
              <a:srgbClr val="E2E2E2"/>
            </a:solidFill>
          </a:ln>
        </p:spPr>
      </p:pic>
      <p:sp>
        <p:nvSpPr>
          <p:cNvPr id="91" name="Caption"/>
          <p:cNvSpPr txBox="1"/>
          <p:nvPr/>
        </p:nvSpPr>
        <p:spPr>
          <a:xfrm>
            <a:off x="7114031" y="5931533"/>
            <a:ext cx="4270249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Hybrid Search로 유사어를 의미 기반 동일 인식 (Recall@5 95%)</a:t>
            </a:r>
          </a:p>
        </p:txBody>
      </p:sp>
      <p:sp>
        <p:nvSpPr>
          <p:cNvPr id="92" name="Text 7"/>
          <p:cNvSpPr txBox="1"/>
          <p:nvPr/>
        </p:nvSpPr>
        <p:spPr>
          <a:xfrm>
            <a:off x="594359" y="2978912"/>
            <a:ext cx="68476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GitHub 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01. PEOPLECORE</a:t>
            </a:r>
          </a:p>
        </p:txBody>
      </p:sp>
      <p:sp>
        <p:nvSpPr>
          <p:cNvPr id="95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97" name="Shape 3"/>
          <p:cNvSpPr/>
          <p:nvPr/>
        </p:nvSpPr>
        <p:spPr>
          <a:xfrm>
            <a:off x="548640" y="868680"/>
            <a:ext cx="15544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4"/>
          <p:cNvSpPr txBox="1"/>
          <p:nvPr/>
        </p:nvSpPr>
        <p:spPr>
          <a:xfrm>
            <a:off x="548639" y="971804"/>
            <a:ext cx="15544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My Key Role</a:t>
            </a:r>
          </a:p>
        </p:txBody>
      </p:sp>
      <p:sp>
        <p:nvSpPr>
          <p:cNvPr id="99" name="Role Summary"/>
          <p:cNvSpPr txBox="1"/>
          <p:nvPr/>
        </p:nvSpPr>
        <p:spPr>
          <a:xfrm>
            <a:off x="566927" y="1448751"/>
            <a:ext cx="5852162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담당 기능</a:t>
            </a:r>
            <a:r>
              <a:rPr b="0">
                <a:solidFill>
                  <a:srgbClr val="6B6B6B"/>
                </a:solidFill>
              </a:rPr>
              <a:t>   로그인(ID/PW · 안면인식) · 조직도 관리 · 통합검색 · 파일함 · AI Copilot</a:t>
            </a:r>
          </a:p>
        </p:txBody>
      </p:sp>
      <p:sp>
        <p:nvSpPr>
          <p:cNvPr id="100" name="Text 5"/>
          <p:cNvSpPr txBox="1"/>
          <p:nvPr/>
        </p:nvSpPr>
        <p:spPr>
          <a:xfrm>
            <a:off x="566927" y="1823853"/>
            <a:ext cx="5852162" cy="558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LLM 이중 라우팅 설계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민감 발화는 로컬 EXAONE 3.5, 일반 발화는 Claude Haiku로 분기 라우팅하여 PIPA 준수와 성능 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동시 확보</a:t>
            </a:r>
          </a:p>
        </p:txBody>
      </p:sp>
      <p:sp>
        <p:nvSpPr>
          <p:cNvPr id="101" name="Text 6"/>
          <p:cNvSpPr txBox="1"/>
          <p:nvPr/>
        </p:nvSpPr>
        <p:spPr>
          <a:xfrm>
            <a:off x="566927" y="2482594"/>
            <a:ext cx="5852162" cy="374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RRF Hybrid Search 구축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BM25 키워드 매칭과 kNN 의미 검색을 RRF로 결합, Recall@5 95% 달성</a:t>
            </a:r>
          </a:p>
        </p:txBody>
      </p:sp>
      <p:sp>
        <p:nvSpPr>
          <p:cNvPr id="102" name="Text 7"/>
          <p:cNvSpPr txBox="1"/>
          <p:nvPr/>
        </p:nvSpPr>
        <p:spPr>
          <a:xfrm>
            <a:off x="566927" y="3049522"/>
            <a:ext cx="5852162" cy="374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Debezium CDC 색인 파이프라인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MySQL binlog 기반 CDC로 DB 변경을 Elasticsearch에 자동 색인, 이벤트 누락 0건</a:t>
            </a:r>
          </a:p>
        </p:txBody>
      </p:sp>
      <p:sp>
        <p:nvSpPr>
          <p:cNvPr id="103" name="Text 8"/>
          <p:cNvSpPr txBox="1"/>
          <p:nvPr/>
        </p:nvSpPr>
        <p:spPr>
          <a:xfrm>
            <a:off x="566927" y="3616450"/>
            <a:ext cx="5852162" cy="374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멀티테넌시 / 파일 권한 모델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company_id 기반 동일 DB 격리, MinIO Presigned URL 직접 업로드 + 2-Tier 권한</a:t>
            </a:r>
          </a:p>
        </p:txBody>
      </p:sp>
      <p:sp>
        <p:nvSpPr>
          <p:cNvPr id="104" name="Perf Hybrid Search"/>
          <p:cNvSpPr txBox="1"/>
          <p:nvPr/>
        </p:nvSpPr>
        <p:spPr>
          <a:xfrm>
            <a:off x="579119" y="4180902"/>
            <a:ext cx="5852162" cy="361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Hybrid Search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키워드 기반 + 벡터 기반 검색을 결합한 Hybrid 검색으로 검색 정확도 95% 달성</a:t>
            </a:r>
          </a:p>
        </p:txBody>
      </p:sp>
      <p:sp>
        <p:nvSpPr>
          <p:cNvPr id="105" name="Text 11"/>
          <p:cNvSpPr txBox="1"/>
          <p:nvPr/>
        </p:nvSpPr>
        <p:spPr>
          <a:xfrm>
            <a:off x="579119" y="4709924"/>
            <a:ext cx="5852162" cy="364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Prompt Caching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시스템 프롬프트 재사용으로 2차 호출부터 호출당 비용 83% 절감 ($0.006202 → $0.001075)</a:t>
            </a:r>
          </a:p>
        </p:txBody>
      </p:sp>
      <p:sp>
        <p:nvSpPr>
          <p:cNvPr id="106" name="Text 12"/>
          <p:cNvSpPr txBox="1"/>
          <p:nvPr/>
        </p:nvSpPr>
        <p:spPr>
          <a:xfrm>
            <a:off x="579119" y="5233608"/>
            <a:ext cx="5852162" cy="377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안면인식 로그인</a:t>
            </a:r>
          </a:p>
          <a:p>
            <a:pPr>
              <a:lnSpc>
                <a:spcPct val="104999"/>
              </a:lnSpc>
              <a:defRPr sz="11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face_recognition 채택으로 DeepFace 27초 → 3초, 9배 단축 · 임계값 실측 튜닝</a:t>
            </a:r>
          </a:p>
        </p:txBody>
      </p:sp>
      <p:sp>
        <p:nvSpPr>
          <p:cNvPr id="107" name="Shape 13"/>
          <p:cNvSpPr/>
          <p:nvPr/>
        </p:nvSpPr>
        <p:spPr>
          <a:xfrm>
            <a:off x="6766559" y="868680"/>
            <a:ext cx="214884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14"/>
          <p:cNvSpPr txBox="1"/>
          <p:nvPr/>
        </p:nvSpPr>
        <p:spPr>
          <a:xfrm>
            <a:off x="6766559" y="971804"/>
            <a:ext cx="214884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System Architecture</a:t>
            </a:r>
          </a:p>
        </p:txBody>
      </p:sp>
      <p:pic>
        <p:nvPicPr>
          <p:cNvPr id="109" name="붙여넣은 동영상.png" descr="붙여넣은 동영상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583263" y="1823853"/>
            <a:ext cx="5313625" cy="36802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01. PEOPLECORE</a:t>
            </a:r>
          </a:p>
        </p:txBody>
      </p:sp>
      <p:sp>
        <p:nvSpPr>
          <p:cNvPr id="112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114" name="Text 3"/>
          <p:cNvSpPr txBox="1"/>
          <p:nvPr/>
        </p:nvSpPr>
        <p:spPr>
          <a:xfrm>
            <a:off x="548640" y="923289"/>
            <a:ext cx="7315201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TroubleShooting</a:t>
            </a:r>
          </a:p>
        </p:txBody>
      </p:sp>
      <p:sp>
        <p:nvSpPr>
          <p:cNvPr id="115" name="Shape 4"/>
          <p:cNvSpPr/>
          <p:nvPr/>
        </p:nvSpPr>
        <p:spPr>
          <a:xfrm>
            <a:off x="5486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" name="Text 5"/>
          <p:cNvSpPr txBox="1"/>
          <p:nvPr/>
        </p:nvSpPr>
        <p:spPr>
          <a:xfrm>
            <a:off x="548639" y="1611884"/>
            <a:ext cx="13258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01</a:t>
            </a:r>
          </a:p>
        </p:txBody>
      </p:sp>
      <p:sp>
        <p:nvSpPr>
          <p:cNvPr id="117" name="Text 6"/>
          <p:cNvSpPr txBox="1"/>
          <p:nvPr/>
        </p:nvSpPr>
        <p:spPr>
          <a:xfrm>
            <a:off x="548639" y="2081083"/>
            <a:ext cx="3423922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EXAONE Tool Use 미지원</a:t>
            </a:r>
          </a:p>
        </p:txBody>
      </p:sp>
      <p:sp>
        <p:nvSpPr>
          <p:cNvPr id="118" name="Text 7"/>
          <p:cNvSpPr txBox="1"/>
          <p:nvPr/>
        </p:nvSpPr>
        <p:spPr>
          <a:xfrm>
            <a:off x="548639" y="2523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19" name="Text 8"/>
          <p:cNvSpPr txBox="1"/>
          <p:nvPr/>
        </p:nvSpPr>
        <p:spPr>
          <a:xfrm>
            <a:off x="548639" y="2743199"/>
            <a:ext cx="3423922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로컬 LLM EXAONE 3.5가 네이티브 Tool Use(함수 호출)를 지원하지 않아 도구 호출형 AI Copilot 구현 불가.</a:t>
            </a:r>
          </a:p>
        </p:txBody>
      </p:sp>
      <p:sp>
        <p:nvSpPr>
          <p:cNvPr id="120" name="Text 9"/>
          <p:cNvSpPr txBox="1"/>
          <p:nvPr/>
        </p:nvSpPr>
        <p:spPr>
          <a:xfrm>
            <a:off x="548639" y="3666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121" name="Text 10"/>
          <p:cNvSpPr txBox="1"/>
          <p:nvPr/>
        </p:nvSpPr>
        <p:spPr>
          <a:xfrm>
            <a:off x="548639" y="3886199"/>
            <a:ext cx="3423922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모델 교체는 PIPA 로컬 추론 요건과 충돌. 도구가 아닌 구조로 동일 결과를 내야 함을 파악.</a:t>
            </a:r>
          </a:p>
        </p:txBody>
      </p:sp>
      <p:sp>
        <p:nvSpPr>
          <p:cNvPr id="122" name="Text 11"/>
          <p:cNvSpPr txBox="1"/>
          <p:nvPr/>
        </p:nvSpPr>
        <p:spPr>
          <a:xfrm>
            <a:off x="548639" y="4809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123" name="Text 12"/>
          <p:cNvSpPr txBox="1"/>
          <p:nvPr/>
        </p:nvSpPr>
        <p:spPr>
          <a:xfrm>
            <a:off x="548639" y="5029199"/>
            <a:ext cx="3423922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[[CALL]] 마커 기반 Manual Prompting 프로토콜을 직접 설계, </a:t>
            </a:r>
          </a:p>
          <a:p>
            <a: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마커 파싱으로 네이티브와 동등한 도구 호출 구현.</a:t>
            </a:r>
          </a:p>
        </p:txBody>
      </p:sp>
      <p:sp>
        <p:nvSpPr>
          <p:cNvPr id="124" name="Shape 13"/>
          <p:cNvSpPr/>
          <p:nvPr/>
        </p:nvSpPr>
        <p:spPr>
          <a:xfrm>
            <a:off x="43840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Text 14"/>
          <p:cNvSpPr txBox="1"/>
          <p:nvPr/>
        </p:nvSpPr>
        <p:spPr>
          <a:xfrm>
            <a:off x="4384040" y="1611884"/>
            <a:ext cx="132588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02</a:t>
            </a:r>
          </a:p>
        </p:txBody>
      </p:sp>
      <p:sp>
        <p:nvSpPr>
          <p:cNvPr id="126" name="Text 15"/>
          <p:cNvSpPr txBox="1"/>
          <p:nvPr/>
        </p:nvSpPr>
        <p:spPr>
          <a:xfrm>
            <a:off x="4384040" y="2081083"/>
            <a:ext cx="342392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검색 정확 매칭 한계</a:t>
            </a:r>
          </a:p>
        </p:txBody>
      </p:sp>
      <p:sp>
        <p:nvSpPr>
          <p:cNvPr id="127" name="Text 16"/>
          <p:cNvSpPr txBox="1"/>
          <p:nvPr/>
        </p:nvSpPr>
        <p:spPr>
          <a:xfrm>
            <a:off x="4384040" y="2523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28" name="Text 17"/>
          <p:cNvSpPr txBox="1"/>
          <p:nvPr/>
        </p:nvSpPr>
        <p:spPr>
          <a:xfrm>
            <a:off x="4384040" y="2743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벡터(kNN) 의미 검색만으로는 사번·부서명 같은 정확 키워드 매칭이 약해 검색 품질 저하.</a:t>
            </a:r>
          </a:p>
        </p:txBody>
      </p:sp>
      <p:sp>
        <p:nvSpPr>
          <p:cNvPr id="129" name="Text 18"/>
          <p:cNvSpPr txBox="1"/>
          <p:nvPr/>
        </p:nvSpPr>
        <p:spPr>
          <a:xfrm>
            <a:off x="4384040" y="3666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130" name="Text 19"/>
          <p:cNvSpPr txBox="1"/>
          <p:nvPr/>
        </p:nvSpPr>
        <p:spPr>
          <a:xfrm>
            <a:off x="4384040" y="3886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BM25는 정확 매칭, 벡터는 의미 유사에 강한 상호 보완 관계임을 직접 분석해 확인.</a:t>
            </a:r>
          </a:p>
        </p:txBody>
      </p:sp>
      <p:sp>
        <p:nvSpPr>
          <p:cNvPr id="131" name="Text 20"/>
          <p:cNvSpPr txBox="1"/>
          <p:nvPr/>
        </p:nvSpPr>
        <p:spPr>
          <a:xfrm>
            <a:off x="4384040" y="4809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132" name="Text 21"/>
          <p:cNvSpPr txBox="1"/>
          <p:nvPr/>
        </p:nvSpPr>
        <p:spPr>
          <a:xfrm>
            <a:off x="4384040" y="5029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BM25 + kNN을 RRF로 결합한 Hybrid Search를 Elasticsearch 위에 구현, Recall@5 95% 달성.</a:t>
            </a:r>
          </a:p>
        </p:txBody>
      </p:sp>
      <p:sp>
        <p:nvSpPr>
          <p:cNvPr id="133" name="Case03 Badge"/>
          <p:cNvSpPr/>
          <p:nvPr/>
        </p:nvSpPr>
        <p:spPr>
          <a:xfrm>
            <a:off x="82194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Case03 BadgeText"/>
          <p:cNvSpPr txBox="1"/>
          <p:nvPr/>
        </p:nvSpPr>
        <p:spPr>
          <a:xfrm>
            <a:off x="8219440" y="1618234"/>
            <a:ext cx="132588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03</a:t>
            </a:r>
          </a:p>
        </p:txBody>
      </p:sp>
      <p:sp>
        <p:nvSpPr>
          <p:cNvPr id="135" name="Case03 Title"/>
          <p:cNvSpPr txBox="1"/>
          <p:nvPr/>
        </p:nvSpPr>
        <p:spPr>
          <a:xfrm>
            <a:off x="8219440" y="2081083"/>
            <a:ext cx="342392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DB-ES 정합성 유지</a:t>
            </a:r>
          </a:p>
        </p:txBody>
      </p:sp>
      <p:sp>
        <p:nvSpPr>
          <p:cNvPr id="136" name="Case03 ProblemL"/>
          <p:cNvSpPr txBox="1"/>
          <p:nvPr/>
        </p:nvSpPr>
        <p:spPr>
          <a:xfrm>
            <a:off x="8219440" y="2523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37" name="Case03 ProblemB"/>
          <p:cNvSpPr txBox="1"/>
          <p:nvPr/>
        </p:nvSpPr>
        <p:spPr>
          <a:xfrm>
            <a:off x="8219440" y="2743199"/>
            <a:ext cx="3423921" cy="354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기존엔 CRUD 발생마다 Kafka 이벤트를 직접 발행. 누락 위험과 업무 효율 하락, 코드 가독성 저하.</a:t>
            </a:r>
          </a:p>
        </p:txBody>
      </p:sp>
      <p:sp>
        <p:nvSpPr>
          <p:cNvPr id="138" name="Case03 AnalysisL"/>
          <p:cNvSpPr txBox="1"/>
          <p:nvPr/>
        </p:nvSpPr>
        <p:spPr>
          <a:xfrm>
            <a:off x="8219440" y="3666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139" name="Case03 AnalysisB"/>
          <p:cNvSpPr txBox="1"/>
          <p:nvPr/>
        </p:nvSpPr>
        <p:spPr>
          <a:xfrm>
            <a:off x="8219440" y="3886199"/>
            <a:ext cx="3423921" cy="354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애플리케이션이 직접 이벤트를 챙기는 대신, DB 변경 자체를 단일 출처로 감지하는 CDC 방식이 적합함을 파악.</a:t>
            </a:r>
          </a:p>
        </p:txBody>
      </p:sp>
      <p:sp>
        <p:nvSpPr>
          <p:cNvPr id="140" name="Case03 SolutionL"/>
          <p:cNvSpPr txBox="1"/>
          <p:nvPr/>
        </p:nvSpPr>
        <p:spPr>
          <a:xfrm>
            <a:off x="8219440" y="4809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141" name="Case03 SolutionB"/>
          <p:cNvSpPr txBox="1"/>
          <p:nvPr/>
        </p:nvSpPr>
        <p:spPr>
          <a:xfrm>
            <a:off x="8219440" y="5029199"/>
            <a:ext cx="3423921" cy="354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Debezium 도입으로 binlog를 감시해 변경 감지·Kafka 발행을 자동화. DB-ES 정합성을 유지하고 이벤트 누락 0건 달성.</a:t>
            </a:r>
          </a:p>
        </p:txBody>
      </p:sp>
      <p:sp>
        <p:nvSpPr>
          <p:cNvPr id="142" name="Shape 22"/>
          <p:cNvSpPr/>
          <p:nvPr/>
        </p:nvSpPr>
        <p:spPr>
          <a:xfrm>
            <a:off x="548639" y="5897879"/>
            <a:ext cx="11064242" cy="640081"/>
          </a:xfrm>
          <a:prstGeom prst="rect">
            <a:avLst/>
          </a:prstGeom>
          <a:solidFill>
            <a:srgbClr val="F6F6F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Shape 23"/>
          <p:cNvSpPr/>
          <p:nvPr/>
        </p:nvSpPr>
        <p:spPr>
          <a:xfrm>
            <a:off x="548640" y="5897879"/>
            <a:ext cx="73153" cy="640081"/>
          </a:xfrm>
          <a:prstGeom prst="rect">
            <a:avLst/>
          </a:prstGeom>
          <a:solidFill>
            <a:srgbClr val="1D9E7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24"/>
          <p:cNvSpPr txBox="1"/>
          <p:nvPr/>
        </p:nvSpPr>
        <p:spPr>
          <a:xfrm>
            <a:off x="777239" y="6137273"/>
            <a:ext cx="10698482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0000"/>
              </a:lnSpc>
              <a:defRPr b="1" sz="1000">
                <a:solidFill>
                  <a:srgbClr val="1D9E75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Reflection  </a:t>
            </a:r>
            <a:r>
              <a:rPr b="0">
                <a:solidFill>
                  <a:srgbClr val="404040"/>
                </a:solidFill>
              </a:rPr>
              <a:t>제약을 마주칠 때마다 도구나 모델을 바꾸기보다, 구조로 같은 결과를 내고 시스템이 스스로 정합성을 지키도록 설계하는 법을 체득.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02. POCHA ON</a:t>
            </a:r>
          </a:p>
        </p:txBody>
      </p:sp>
      <p:sp>
        <p:nvSpPr>
          <p:cNvPr id="147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49" name="Text 3"/>
          <p:cNvSpPr txBox="1"/>
          <p:nvPr/>
        </p:nvSpPr>
        <p:spPr>
          <a:xfrm>
            <a:off x="548640" y="946781"/>
            <a:ext cx="8229601" cy="483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30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Pocha On</a:t>
            </a:r>
            <a:r>
              <a:rPr>
                <a:solidFill>
                  <a:srgbClr val="E8771E"/>
                </a:solidFill>
              </a:rPr>
              <a:t>  포차온</a:t>
            </a:r>
          </a:p>
        </p:txBody>
      </p:sp>
      <p:sp>
        <p:nvSpPr>
          <p:cNvPr id="150" name="Text 4"/>
          <p:cNvSpPr txBox="1"/>
          <p:nvPr/>
        </p:nvSpPr>
        <p:spPr>
          <a:xfrm>
            <a:off x="566927" y="1556827"/>
            <a:ext cx="822960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포장마차·요식업 매장을 위한 실시간 주문·채팅 플랫폼</a:t>
            </a:r>
          </a:p>
        </p:txBody>
      </p:sp>
      <p:sp>
        <p:nvSpPr>
          <p:cNvPr id="151" name="Shape 5"/>
          <p:cNvSpPr/>
          <p:nvPr/>
        </p:nvSpPr>
        <p:spPr>
          <a:xfrm>
            <a:off x="548640" y="2011679"/>
            <a:ext cx="1783080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Text 6"/>
          <p:cNvSpPr txBox="1"/>
          <p:nvPr/>
        </p:nvSpPr>
        <p:spPr>
          <a:xfrm>
            <a:off x="548640" y="2114803"/>
            <a:ext cx="178307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Project Overview</a:t>
            </a:r>
          </a:p>
        </p:txBody>
      </p:sp>
      <p:sp>
        <p:nvSpPr>
          <p:cNvPr id="153" name="Text 7"/>
          <p:cNvSpPr txBox="1"/>
          <p:nvPr/>
        </p:nvSpPr>
        <p:spPr>
          <a:xfrm>
            <a:off x="594359" y="2606802"/>
            <a:ext cx="576072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4인  ·  2026.01 - 2026.03  · </a:t>
            </a:r>
            <a:r>
              <a:t>프론트엔드 </a:t>
            </a:r>
            <a:r>
              <a:t>· 백엔드 ·</a:t>
            </a:r>
            <a:r>
              <a:t> 인프라</a:t>
            </a:r>
          </a:p>
        </p:txBody>
      </p:sp>
      <p:sp>
        <p:nvSpPr>
          <p:cNvPr id="154" name="Text 8"/>
          <p:cNvSpPr txBox="1"/>
          <p:nvPr/>
        </p:nvSpPr>
        <p:spPr>
          <a:xfrm>
            <a:off x="594359" y="3278504"/>
            <a:ext cx="5852162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포장마차·요식업 매장을 위한 </a:t>
            </a:r>
            <a:r>
              <a:rPr b="1">
                <a:solidFill>
                  <a:srgbClr val="E8771E"/>
                </a:solidFill>
              </a:rPr>
              <a:t>실시간 주문·채팅 플랫폼</a:t>
            </a:r>
            <a:r>
              <a:t>. 주문 채널과 소통 채널을 완전히 분리해 트래픽 도메인을 격리하고 정확성과 자유로움을 동시에 확보. WebSocket 실시간 통신, Kafka 메시지 큐, Redis 캐싱을 갖춘 모놀리식 애플리케이션을 EKS 다중 Pod으로 수평 확장해 구현.</a:t>
            </a:r>
          </a:p>
        </p:txBody>
      </p:sp>
      <p:sp>
        <p:nvSpPr>
          <p:cNvPr id="155" name="Shape 9"/>
          <p:cNvSpPr/>
          <p:nvPr/>
        </p:nvSpPr>
        <p:spPr>
          <a:xfrm>
            <a:off x="548640" y="4343400"/>
            <a:ext cx="132588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Text 10"/>
          <p:cNvSpPr txBox="1"/>
          <p:nvPr/>
        </p:nvSpPr>
        <p:spPr>
          <a:xfrm>
            <a:off x="548639" y="4446524"/>
            <a:ext cx="13258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Tech Stack</a:t>
            </a:r>
          </a:p>
        </p:txBody>
      </p:sp>
      <p:graphicFrame>
        <p:nvGraphicFramePr>
          <p:cNvPr id="157" name="Table 0"/>
          <p:cNvGraphicFramePr/>
          <p:nvPr/>
        </p:nvGraphicFramePr>
        <p:xfrm>
          <a:off x="548640" y="4892040"/>
          <a:ext cx="5897880" cy="124358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1732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E8771E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Backend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Java 17, Spring Boot 3, WebSocket(STOMP)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E8771E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Messaging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Kafka, Redis Pub/Sub, SSE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E8771E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Data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MySQL 8, Redis 7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E8771E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Infra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Noto Sans CJK KR"/>
                          <a:ea typeface="Noto Sans CJK KR"/>
                          <a:cs typeface="Noto Sans CJK KR"/>
                          <a:sym typeface="Noto Sans CJK KR"/>
                        </a:rPr>
                        <a:t>Docker, Kubernetes(EKS), nginx Ingress, JMeter</a:t>
                      </a:r>
                    </a:p>
                  </a:txBody>
                  <a:tcPr marL="25400" marR="25400" marT="25400" marB="25400" anchor="ctr" anchorCtr="0" horzOverflow="overflow">
                    <a:lnL w="6350">
                      <a:solidFill>
                        <a:srgbClr val="E2E2E2"/>
                      </a:solidFill>
                    </a:lnL>
                    <a:lnR w="6350">
                      <a:solidFill>
                        <a:srgbClr val="E2E2E2"/>
                      </a:solidFill>
                    </a:lnR>
                    <a:lnT w="6350">
                      <a:solidFill>
                        <a:srgbClr val="E2E2E2"/>
                      </a:solidFill>
                    </a:lnT>
                    <a:lnB w="6350">
                      <a:solidFill>
                        <a:srgbClr val="E2E2E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Shape 12"/>
          <p:cNvSpPr/>
          <p:nvPr/>
        </p:nvSpPr>
        <p:spPr>
          <a:xfrm>
            <a:off x="6903719" y="1737360"/>
            <a:ext cx="4709161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2E2"/>
            </a:solidFill>
          </a:ln>
          <a:effectLst>
            <a:outerShdw sx="100000" sy="100000" kx="0" ky="0" algn="b" rotWithShape="0" blurRad="101600" dist="381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159" name="Tables Screen" descr="Tables Screen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85850" y="2185507"/>
            <a:ext cx="4018052" cy="1804250"/>
          </a:xfrm>
          <a:prstGeom prst="rect">
            <a:avLst/>
          </a:prstGeom>
          <a:ln>
            <a:solidFill>
              <a:srgbClr val="E2E2E2"/>
            </a:solidFill>
          </a:ln>
        </p:spPr>
      </p:pic>
      <p:sp>
        <p:nvSpPr>
          <p:cNvPr id="160" name="Lbl Order"/>
          <p:cNvSpPr txBox="1"/>
          <p:nvPr/>
        </p:nvSpPr>
        <p:spPr>
          <a:xfrm>
            <a:off x="8287123" y="4013119"/>
            <a:ext cx="1722897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점주 대시보드</a:t>
            </a:r>
          </a:p>
        </p:txBody>
      </p:sp>
      <p:pic>
        <p:nvPicPr>
          <p:cNvPr id="161" name="Order Screen" descr="Order Scree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90427" y="4203493"/>
            <a:ext cx="1993393" cy="1759394"/>
          </a:xfrm>
          <a:prstGeom prst="rect">
            <a:avLst/>
          </a:prstGeom>
          <a:ln>
            <a:solidFill>
              <a:srgbClr val="E2E2E2"/>
            </a:solidFill>
          </a:ln>
        </p:spPr>
      </p:pic>
      <p:pic>
        <p:nvPicPr>
          <p:cNvPr id="162" name="Chat Screen" descr="Chat Screen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294876" y="4203493"/>
            <a:ext cx="1993393" cy="1759394"/>
          </a:xfrm>
          <a:prstGeom prst="rect">
            <a:avLst/>
          </a:prstGeom>
          <a:ln>
            <a:solidFill>
              <a:srgbClr val="E2E2E2"/>
            </a:solidFill>
          </a:ln>
        </p:spPr>
      </p:pic>
      <p:sp>
        <p:nvSpPr>
          <p:cNvPr id="163" name="Caption"/>
          <p:cNvSpPr txBox="1"/>
          <p:nvPr/>
        </p:nvSpPr>
        <p:spPr>
          <a:xfrm>
            <a:off x="7159752" y="6006187"/>
            <a:ext cx="4270249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WebSocket/STOMP로 점주·고객·채팅 화면 실시간 동기화</a:t>
            </a:r>
          </a:p>
        </p:txBody>
      </p:sp>
      <p:sp>
        <p:nvSpPr>
          <p:cNvPr id="164" name="Text 11"/>
          <p:cNvSpPr txBox="1"/>
          <p:nvPr/>
        </p:nvSpPr>
        <p:spPr>
          <a:xfrm>
            <a:off x="1211580" y="2991612"/>
            <a:ext cx="59436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latin typeface="Noto Sans CJK KR"/>
                <a:ea typeface="Noto Sans CJK KR"/>
                <a:cs typeface="Noto Sans CJK KR"/>
                <a:sym typeface="Noto Sans CJK KR"/>
                <a:hlinkClick r:id="rId5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1D9E75"/>
                </a:solidFill>
                <a:uFillTx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 https://github.com/beyond-sw-camp/be23-2nd-team2-Pocha_On-be</a:t>
            </a:r>
          </a:p>
        </p:txBody>
      </p:sp>
      <p:sp>
        <p:nvSpPr>
          <p:cNvPr id="165" name="Text 7"/>
          <p:cNvSpPr txBox="1"/>
          <p:nvPr/>
        </p:nvSpPr>
        <p:spPr>
          <a:xfrm>
            <a:off x="594359" y="2978912"/>
            <a:ext cx="68476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GitHub 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02. POCHA ON</a:t>
            </a:r>
          </a:p>
        </p:txBody>
      </p:sp>
      <p:sp>
        <p:nvSpPr>
          <p:cNvPr id="168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70" name="Shape 3"/>
          <p:cNvSpPr/>
          <p:nvPr/>
        </p:nvSpPr>
        <p:spPr>
          <a:xfrm>
            <a:off x="548640" y="868680"/>
            <a:ext cx="15544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Text 4"/>
          <p:cNvSpPr txBox="1"/>
          <p:nvPr/>
        </p:nvSpPr>
        <p:spPr>
          <a:xfrm>
            <a:off x="548639" y="971804"/>
            <a:ext cx="15544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My Key Role</a:t>
            </a:r>
          </a:p>
        </p:txBody>
      </p:sp>
      <p:sp>
        <p:nvSpPr>
          <p:cNvPr id="172" name="Role Summary"/>
          <p:cNvSpPr txBox="1"/>
          <p:nvPr/>
        </p:nvSpPr>
        <p:spPr>
          <a:xfrm>
            <a:off x="566927" y="1455545"/>
            <a:ext cx="5852162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담당 기능</a:t>
            </a:r>
            <a:r>
              <a:rPr b="0">
                <a:solidFill>
                  <a:srgbClr val="6B6B6B"/>
                </a:solidFill>
              </a:rPr>
              <a:t>   로그인 · 테이블 간 채팅 · 재고 관리 · 레시피 관리</a:t>
            </a:r>
          </a:p>
        </p:txBody>
      </p:sp>
      <p:sp>
        <p:nvSpPr>
          <p:cNvPr id="173" name="Text 5"/>
          <p:cNvSpPr txBox="1"/>
          <p:nvPr/>
        </p:nvSpPr>
        <p:spPr>
          <a:xfrm>
            <a:off x="566927" y="1773394"/>
            <a:ext cx="5852162" cy="612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JWT 3-Stage 토큰 설계</a:t>
            </a:r>
          </a:p>
          <a:p>
            <a:pPr>
              <a:lnSpc>
                <a:spcPct val="104999"/>
              </a:lnSpc>
              <a:defRPr sz="500"/>
            </a:pPr>
          </a:p>
          <a:p>
            <a:pPr>
              <a:lnSpc>
                <a:spcPct val="104999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매장·테이블 진입마다 권한이 달라지는 비회원 주문을 위해 BASE→STORE→TABLE 단계별 토큰 재발급·이전 폐기. AT/RT 시크릿 분리 + Redis 화이트리스트로 탈취 토큰 즉시 무효화.</a:t>
            </a:r>
          </a:p>
        </p:txBody>
      </p:sp>
      <p:sp>
        <p:nvSpPr>
          <p:cNvPr id="174" name="Text 6"/>
          <p:cNvSpPr txBox="1"/>
          <p:nvPr/>
        </p:nvSpPr>
        <p:spPr>
          <a:xfrm>
            <a:off x="566927" y="2623454"/>
            <a:ext cx="5852162" cy="61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테이블 이동·합치기 (MOVE / MERGE)</a:t>
            </a:r>
          </a:p>
          <a:p>
            <a:pPr>
              <a:lnSpc>
                <a:spcPct val="104999"/>
              </a:lnSpc>
              <a:defRPr sz="500"/>
            </a:pPr>
          </a:p>
          <a:p>
            <a:pPr>
              <a:lnSpc>
                <a:spcPct val="104999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두 테이블을 비관적 락으로 동시 조회해 충돌 차단, 주문 일괄 이전·groupId 이관을 원자적으로 처리. 새 JWT 재발급 + Kafka→WebSocket으로 점주·주방·테이블 화면을 실시간 동기화, 30초 플래그로 비정상 롤백 차단.</a:t>
            </a:r>
          </a:p>
        </p:txBody>
      </p:sp>
      <p:sp>
        <p:nvSpPr>
          <p:cNvPr id="175" name="Text 8"/>
          <p:cNvSpPr txBox="1"/>
          <p:nvPr/>
        </p:nvSpPr>
        <p:spPr>
          <a:xfrm>
            <a:off x="566927" y="3474664"/>
            <a:ext cx="5852162" cy="6099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실시간 채팅 (WebSocket / STOMP)</a:t>
            </a:r>
          </a:p>
          <a:p>
            <a:pPr>
              <a:lnSpc>
                <a:spcPct val="104999"/>
              </a:lnSpc>
              <a:defRPr sz="500"/>
            </a:pPr>
          </a:p>
          <a:p>
            <a:pPr>
              <a:lnSpc>
                <a:spcPct val="104999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WebSocket/STOMP 기반으로 테이블 간 실시간 메시지 송수신을 구현. 매장·테이블 단위 토픽(/topic/...)으로 구독을 분리해 주문·호출·채팅이 해당 대상에게만 전달되도록 설계.</a:t>
            </a:r>
          </a:p>
        </p:txBody>
      </p:sp>
      <p:sp>
        <p:nvSpPr>
          <p:cNvPr id="176" name="Perf HikariCP"/>
          <p:cNvSpPr txBox="1"/>
          <p:nvPr/>
        </p:nvSpPr>
        <p:spPr>
          <a:xfrm>
            <a:off x="548639" y="4369656"/>
            <a:ext cx="5852162" cy="618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08000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커넥션 풀 튜닝</a:t>
            </a:r>
          </a:p>
          <a:p>
            <a:pPr>
              <a:lnSpc>
                <a:spcPct val="108000"/>
              </a:lnSpc>
              <a:defRPr sz="500"/>
            </a:pPr>
          </a:p>
          <a:p>
            <a:pPr>
              <a:lnSpc>
                <a:spcPct val="108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커넥션 부족으로 스레드가 대기·타임아웃되던 문제를 HikariCP pool-size 2→10으로 해소. 100건 동시 주문 에러율 79%→0% · TPS 23.3→27.7.</a:t>
            </a:r>
          </a:p>
        </p:txBody>
      </p:sp>
      <p:sp>
        <p:nvSpPr>
          <p:cNvPr id="177" name="Text 11"/>
          <p:cNvSpPr txBox="1"/>
          <p:nvPr/>
        </p:nvSpPr>
        <p:spPr>
          <a:xfrm>
            <a:off x="548639" y="5073394"/>
            <a:ext cx="5852162" cy="612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04999"/>
              </a:lnSpc>
              <a:defRPr b="1" sz="12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재고 정합성 100%</a:t>
            </a:r>
          </a:p>
          <a:p>
            <a:pPr>
              <a:lnSpc>
                <a:spcPct val="104999"/>
              </a:lnSpc>
              <a:defRPr sz="500"/>
            </a:pPr>
          </a:p>
          <a:p>
            <a:pPr>
              <a:lnSpc>
                <a:spcPct val="104999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락 없이 100건 동시 차감 시 284% 초과 차감·서버 CRASH → 비관적 락 적용 후 에러율 75%→0%, 오차 0% · 정합성 100%.</a:t>
            </a:r>
          </a:p>
        </p:txBody>
      </p:sp>
      <p:sp>
        <p:nvSpPr>
          <p:cNvPr id="178" name="Shape 13"/>
          <p:cNvSpPr/>
          <p:nvPr/>
        </p:nvSpPr>
        <p:spPr>
          <a:xfrm>
            <a:off x="6355079" y="868680"/>
            <a:ext cx="256032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4"/>
          <p:cNvSpPr txBox="1"/>
          <p:nvPr/>
        </p:nvSpPr>
        <p:spPr>
          <a:xfrm>
            <a:off x="6355079" y="971804"/>
            <a:ext cx="25603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Deployment Architecture</a:t>
            </a:r>
          </a:p>
        </p:txBody>
      </p:sp>
      <p:pic>
        <p:nvPicPr>
          <p:cNvPr id="180" name="붙여넣은 동영상.png" descr="붙여넣은 동영상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2777" y="1937637"/>
            <a:ext cx="5396344" cy="35742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 txBox="1"/>
          <p:nvPr/>
        </p:nvSpPr>
        <p:spPr>
          <a:xfrm>
            <a:off x="548640" y="458978"/>
            <a:ext cx="566928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EXPERIENCE 02. POCHA ON</a:t>
            </a:r>
          </a:p>
        </p:txBody>
      </p:sp>
      <p:sp>
        <p:nvSpPr>
          <p:cNvPr id="183" name="Shape 1"/>
          <p:cNvSpPr/>
          <p:nvPr/>
        </p:nvSpPr>
        <p:spPr>
          <a:xfrm>
            <a:off x="4023359" y="566927"/>
            <a:ext cx="7040881" cy="1"/>
          </a:xfrm>
          <a:prstGeom prst="line">
            <a:avLst/>
          </a:prstGeom>
          <a:ln w="12700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Text 2"/>
          <p:cNvSpPr txBox="1"/>
          <p:nvPr/>
        </p:nvSpPr>
        <p:spPr>
          <a:xfrm>
            <a:off x="11155680" y="458978"/>
            <a:ext cx="54864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4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85" name="Text 3"/>
          <p:cNvSpPr txBox="1"/>
          <p:nvPr/>
        </p:nvSpPr>
        <p:spPr>
          <a:xfrm>
            <a:off x="548640" y="923289"/>
            <a:ext cx="7315201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TroubleShooting</a:t>
            </a:r>
          </a:p>
        </p:txBody>
      </p:sp>
      <p:sp>
        <p:nvSpPr>
          <p:cNvPr id="186" name="Shape 4"/>
          <p:cNvSpPr/>
          <p:nvPr/>
        </p:nvSpPr>
        <p:spPr>
          <a:xfrm>
            <a:off x="5486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5"/>
          <p:cNvSpPr txBox="1"/>
          <p:nvPr/>
        </p:nvSpPr>
        <p:spPr>
          <a:xfrm>
            <a:off x="548639" y="1611884"/>
            <a:ext cx="132588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01</a:t>
            </a:r>
          </a:p>
        </p:txBody>
      </p:sp>
      <p:sp>
        <p:nvSpPr>
          <p:cNvPr id="188" name="Text 6"/>
          <p:cNvSpPr txBox="1"/>
          <p:nvPr/>
        </p:nvSpPr>
        <p:spPr>
          <a:xfrm>
            <a:off x="548639" y="2081083"/>
            <a:ext cx="3423922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재고 차감 동시성 (Race Condition)</a:t>
            </a:r>
          </a:p>
        </p:txBody>
      </p:sp>
      <p:sp>
        <p:nvSpPr>
          <p:cNvPr id="189" name="Text 7"/>
          <p:cNvSpPr txBox="1"/>
          <p:nvPr/>
        </p:nvSpPr>
        <p:spPr>
          <a:xfrm>
            <a:off x="548639" y="2523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90" name="Text 8"/>
          <p:cNvSpPr txBox="1"/>
          <p:nvPr/>
        </p:nvSpPr>
        <p:spPr>
          <a:xfrm>
            <a:off x="548639" y="2743199"/>
            <a:ext cx="3423922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동시 주문 100건 차감 시 에러율 75%, 실제 차감량이 정상의 284%를 초과하는 중복 차감 발생.</a:t>
            </a:r>
          </a:p>
        </p:txBody>
      </p:sp>
      <p:sp>
        <p:nvSpPr>
          <p:cNvPr id="191" name="Text 9"/>
          <p:cNvSpPr txBox="1"/>
          <p:nvPr/>
        </p:nvSpPr>
        <p:spPr>
          <a:xfrm>
            <a:off x="548639" y="3666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192" name="Text 10"/>
          <p:cNvSpPr txBox="1"/>
          <p:nvPr/>
        </p:nvSpPr>
        <p:spPr>
          <a:xfrm>
            <a:off x="548639" y="3886199"/>
            <a:ext cx="3423922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단일 방어로는 다중 Pod 환경의 동시 접근을 못 막았고, 락·메시지 큐·DB 커넥션 풀까지 단계별 병목을 확인.</a:t>
            </a:r>
          </a:p>
        </p:txBody>
      </p:sp>
      <p:sp>
        <p:nvSpPr>
          <p:cNvPr id="193" name="Text 11"/>
          <p:cNvSpPr txBox="1"/>
          <p:nvPr/>
        </p:nvSpPr>
        <p:spPr>
          <a:xfrm>
            <a:off x="548639" y="4809489"/>
            <a:ext cx="34239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194" name="Text 12"/>
          <p:cNvSpPr txBox="1"/>
          <p:nvPr/>
        </p:nvSpPr>
        <p:spPr>
          <a:xfrm>
            <a:off x="548639" y="5029199"/>
            <a:ext cx="3423922" cy="3540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Redis 멱등성 키 + Kafka concurrency=1 직렬화 + 비관적 락 3중 방어 적용, 에러율 75%→0% · 재고 정합성 100% 달성.</a:t>
            </a:r>
          </a:p>
        </p:txBody>
      </p:sp>
      <p:sp>
        <p:nvSpPr>
          <p:cNvPr id="195" name="Shape 13"/>
          <p:cNvSpPr/>
          <p:nvPr/>
        </p:nvSpPr>
        <p:spPr>
          <a:xfrm>
            <a:off x="43840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6" name="Text 14"/>
          <p:cNvSpPr txBox="1"/>
          <p:nvPr/>
        </p:nvSpPr>
        <p:spPr>
          <a:xfrm>
            <a:off x="4384040" y="1611884"/>
            <a:ext cx="132588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02</a:t>
            </a:r>
          </a:p>
        </p:txBody>
      </p:sp>
      <p:sp>
        <p:nvSpPr>
          <p:cNvPr id="197" name="Text 15"/>
          <p:cNvSpPr txBox="1"/>
          <p:nvPr/>
        </p:nvSpPr>
        <p:spPr>
          <a:xfrm>
            <a:off x="4384040" y="2081083"/>
            <a:ext cx="342392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분산 Pod STOMP 메시지 유실</a:t>
            </a:r>
          </a:p>
        </p:txBody>
      </p:sp>
      <p:sp>
        <p:nvSpPr>
          <p:cNvPr id="198" name="Text 16"/>
          <p:cNvSpPr txBox="1"/>
          <p:nvPr/>
        </p:nvSpPr>
        <p:spPr>
          <a:xfrm>
            <a:off x="4384040" y="2523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99" name="Text 17"/>
          <p:cNvSpPr txBox="1"/>
          <p:nvPr/>
        </p:nvSpPr>
        <p:spPr>
          <a:xfrm>
            <a:off x="4384040" y="2743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SimpleBroker In-Memory 방식은 Pod 간 fan-out이 안 돼, 특정 Pod 사용자가 다른 Pod의 메시지를 수신하지 못함.</a:t>
            </a:r>
          </a:p>
        </p:txBody>
      </p:sp>
      <p:sp>
        <p:nvSpPr>
          <p:cNvPr id="200" name="Text 18"/>
          <p:cNvSpPr txBox="1"/>
          <p:nvPr/>
        </p:nvSpPr>
        <p:spPr>
          <a:xfrm>
            <a:off x="4384040" y="3666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201" name="Text 19"/>
          <p:cNvSpPr txBox="1"/>
          <p:nvPr/>
        </p:nvSpPr>
        <p:spPr>
          <a:xfrm>
            <a:off x="4384040" y="3886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STOMP 세션이 서버 메모리에 묶여 인스턴스 간 공유되지 않는 구조적 한계임을 파악.</a:t>
            </a:r>
          </a:p>
        </p:txBody>
      </p:sp>
      <p:sp>
        <p:nvSpPr>
          <p:cNvPr id="202" name="Text 20"/>
          <p:cNvSpPr txBox="1"/>
          <p:nvPr/>
        </p:nvSpPr>
        <p:spPr>
          <a:xfrm>
            <a:off x="4384040" y="4809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203" name="Text 21"/>
          <p:cNvSpPr txBox="1"/>
          <p:nvPr/>
        </p:nvSpPr>
        <p:spPr>
          <a:xfrm>
            <a:off x="4384040" y="5029199"/>
            <a:ext cx="3423921" cy="35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000">
                <a:solidFill>
                  <a:srgbClr val="404040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모든 Pod이 Kafka Consumer로 수신 후 각자 STOMP 세션에 fan-out하도록 설계, Pod 간 메시지 유실을 구조적으로 해결.</a:t>
            </a:r>
          </a:p>
        </p:txBody>
      </p:sp>
      <p:sp>
        <p:nvSpPr>
          <p:cNvPr id="204" name="Case03 Badge"/>
          <p:cNvSpPr/>
          <p:nvPr/>
        </p:nvSpPr>
        <p:spPr>
          <a:xfrm>
            <a:off x="8219440" y="1508760"/>
            <a:ext cx="1325881" cy="38404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5" name="Case03 BadgeText"/>
          <p:cNvSpPr txBox="1"/>
          <p:nvPr/>
        </p:nvSpPr>
        <p:spPr>
          <a:xfrm>
            <a:off x="8219440" y="1618234"/>
            <a:ext cx="132588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Case 03</a:t>
            </a:r>
          </a:p>
        </p:txBody>
      </p:sp>
      <p:sp>
        <p:nvSpPr>
          <p:cNvPr id="206" name="Case03 Title"/>
          <p:cNvSpPr txBox="1"/>
          <p:nvPr/>
        </p:nvSpPr>
        <p:spPr>
          <a:xfrm>
            <a:off x="8219440" y="2081083"/>
            <a:ext cx="342392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Cascade 연관관계 정합성</a:t>
            </a:r>
          </a:p>
        </p:txBody>
      </p:sp>
      <p:sp>
        <p:nvSpPr>
          <p:cNvPr id="207" name="C3 PL"/>
          <p:cNvSpPr txBox="1"/>
          <p:nvPr/>
        </p:nvSpPr>
        <p:spPr>
          <a:xfrm>
            <a:off x="8219440" y="2523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208" name="C3 PB"/>
          <p:cNvSpPr txBox="1"/>
          <p:nvPr/>
        </p:nvSpPr>
        <p:spPr>
          <a:xfrm>
            <a:off x="8219440" y="2743199"/>
            <a:ext cx="3423921" cy="548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식자재 삭제 시 레시피(메뉴·옵션)에 연결돼 있으면 FK 제약 위반으로 실패. CascadeType.ALL만 걸면 의도치 않은 범위까지 삭제되는 위험도 존재.</a:t>
            </a:r>
          </a:p>
        </p:txBody>
      </p:sp>
      <p:sp>
        <p:nvSpPr>
          <p:cNvPr id="209" name="C3 AL"/>
          <p:cNvSpPr txBox="1"/>
          <p:nvPr/>
        </p:nvSpPr>
        <p:spPr>
          <a:xfrm>
            <a:off x="8219440" y="3666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Analysis</a:t>
            </a:r>
          </a:p>
        </p:txBody>
      </p:sp>
      <p:sp>
        <p:nvSpPr>
          <p:cNvPr id="210" name="C3 AB"/>
          <p:cNvSpPr txBox="1"/>
          <p:nvPr/>
        </p:nvSpPr>
        <p:spPr>
          <a:xfrm>
            <a:off x="8219440" y="3886199"/>
            <a:ext cx="3423921" cy="550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입고 배치·메뉴 레시피는 Cascade로 삭제되지만, 옵션 레시피(IngredientMenuOptionDetail)는 별도 엔티티라 Cascade 대상에서 누락 → 삭제 순서 미보장 시 FK 위반.</a:t>
            </a:r>
          </a:p>
        </p:txBody>
      </p:sp>
      <p:sp>
        <p:nvSpPr>
          <p:cNvPr id="211" name="C3 SL"/>
          <p:cNvSpPr txBox="1"/>
          <p:nvPr/>
        </p:nvSpPr>
        <p:spPr>
          <a:xfrm>
            <a:off x="8219440" y="4809489"/>
            <a:ext cx="34239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Solution &amp; Result</a:t>
            </a:r>
          </a:p>
        </p:txBody>
      </p:sp>
      <p:sp>
        <p:nvSpPr>
          <p:cNvPr id="212" name="C3 SB"/>
          <p:cNvSpPr txBox="1"/>
          <p:nvPr/>
        </p:nvSpPr>
        <p:spPr>
          <a:xfrm>
            <a:off x="8219440" y="5029199"/>
            <a:ext cx="3423921" cy="548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B6B6B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lvl1pPr>
          </a:lstStyle>
          <a:p>
            <a:pPr/>
            <a:r>
              <a:t>Cascade + 수동 삭제 2단계 전략: ① Cascade 밖 옵션 레시피를 먼저 수동 삭제해 FK 참조 제거 ② Ingredient 삭제 시 입고 배치·메뉴 레시피 자동 정리. 순서 보장으로 FK 위반 없이 일괄 삭제.</a:t>
            </a:r>
          </a:p>
        </p:txBody>
      </p:sp>
      <p:sp>
        <p:nvSpPr>
          <p:cNvPr id="213" name="Shape 22"/>
          <p:cNvSpPr/>
          <p:nvPr/>
        </p:nvSpPr>
        <p:spPr>
          <a:xfrm>
            <a:off x="548639" y="5897879"/>
            <a:ext cx="11064242" cy="640081"/>
          </a:xfrm>
          <a:prstGeom prst="rect">
            <a:avLst/>
          </a:prstGeom>
          <a:solidFill>
            <a:srgbClr val="F6F6F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4" name="Shape 23"/>
          <p:cNvSpPr/>
          <p:nvPr/>
        </p:nvSpPr>
        <p:spPr>
          <a:xfrm>
            <a:off x="548640" y="5897879"/>
            <a:ext cx="73153" cy="640081"/>
          </a:xfrm>
          <a:prstGeom prst="rect">
            <a:avLst/>
          </a:prstGeom>
          <a:solidFill>
            <a:srgbClr val="E877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5" name="Text 24"/>
          <p:cNvSpPr txBox="1"/>
          <p:nvPr/>
        </p:nvSpPr>
        <p:spPr>
          <a:xfrm>
            <a:off x="777239" y="6137273"/>
            <a:ext cx="10698482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0000"/>
              </a:lnSpc>
              <a:defRPr b="1" sz="1000">
                <a:solidFill>
                  <a:srgbClr val="E8771E"/>
                </a:solidFill>
                <a:latin typeface="Noto Sans CJK KR"/>
                <a:ea typeface="Noto Sans CJK KR"/>
                <a:cs typeface="Noto Sans CJK KR"/>
                <a:sym typeface="Noto Sans CJK KR"/>
              </a:defRPr>
            </a:pPr>
            <a:r>
              <a:t>Reflection  </a:t>
            </a:r>
            <a:r>
              <a:rPr b="0">
                <a:solidFill>
                  <a:srgbClr val="404040"/>
                </a:solidFill>
              </a:rPr>
              <a:t>동시성·분산 환경의 메시지 전파·연관 데이터 정합성까지, 단순 해결을 넘어 데이터 무결성과 시스템 안정성을 함께 고려하는 설계의 중요성을 체득.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